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e9e19a4b8f4d26" /><Relationship Type="http://schemas.openxmlformats.org/officeDocument/2006/relationships/extended-properties" Target="/docProps/app.xml" Id="R3e76d918e29c4a04" /><Relationship Type="http://schemas.openxmlformats.org/officeDocument/2006/relationships/officeDocument" Target="/ppt/presentation.xml" Id="R1af123340b7d4d42" /></Relationships>
</file>

<file path=ppt/presentation.xml><?xml version="1.0" encoding="utf-8"?>
<p:presentation xmlns:p="http://schemas.openxmlformats.org/presentationml/2006/main">
  <p:sldMasterIdLst>
    <p:sldMasterId xmlns:r="http://schemas.openxmlformats.org/officeDocument/2006/relationships" id="2147483648" r:id="Ra93b1e7740b54ff2"/>
  </p:sldMasterIdLst>
  <p:notesMasterIdLst>
    <p:notesMasterId xmlns:r="http://schemas.openxmlformats.org/officeDocument/2006/relationships" r:id="R63a5eaf3d5864479"/>
  </p:notesMasterIdLst>
  <p:sldIdLst>
    <p:sldId xmlns:r="http://schemas.openxmlformats.org/officeDocument/2006/relationships" id="256" r:id="R23e48d4dd3d241e8"/>
    <p:sldId xmlns:r="http://schemas.openxmlformats.org/officeDocument/2006/relationships" id="257" r:id="R4c35fb255d4b4fda"/>
    <p:sldId xmlns:r="http://schemas.openxmlformats.org/officeDocument/2006/relationships" id="258" r:id="R9d0053b03c1f423f"/>
    <p:sldId xmlns:r="http://schemas.openxmlformats.org/officeDocument/2006/relationships" id="259" r:id="R87685a13069e4690"/>
    <p:sldId xmlns:r="http://schemas.openxmlformats.org/officeDocument/2006/relationships" id="260" r:id="R9a852abac5824691"/>
    <p:sldId xmlns:r="http://schemas.openxmlformats.org/officeDocument/2006/relationships" id="261" r:id="R02f842f68e4042a3"/>
    <p:sldId xmlns:r="http://schemas.openxmlformats.org/officeDocument/2006/relationships" id="262" r:id="Rd0c6afbefe5c40e5"/>
    <p:sldId xmlns:r="http://schemas.openxmlformats.org/officeDocument/2006/relationships" id="263" r:id="Rf0e4bf39841c41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f17941ef6c4ba6" /><Relationship Type="http://schemas.openxmlformats.org/officeDocument/2006/relationships/slideMaster" Target="/ppt/slideMasters/slideMaster1.xml" Id="Ra93b1e7740b54ff2" /><Relationship Type="http://schemas.openxmlformats.org/officeDocument/2006/relationships/notesMaster" Target="/ppt/notesMasters/notesMaster1.xml" Id="R63a5eaf3d5864479" /><Relationship Type="http://schemas.openxmlformats.org/officeDocument/2006/relationships/presProps" Target="/ppt/presProps.xml" Id="R829af39709fd4a58" /><Relationship Type="http://schemas.openxmlformats.org/officeDocument/2006/relationships/tableStyles" Target="/ppt/tableStyles.xml" Id="Rde39f4024128486b" /><Relationship Type="http://schemas.openxmlformats.org/officeDocument/2006/relationships/slide" Target="/ppt/slides/slide1.xml" Id="R23e48d4dd3d241e8" /><Relationship Type="http://schemas.openxmlformats.org/officeDocument/2006/relationships/slide" Target="/ppt/slides/slide2.xml" Id="R4c35fb255d4b4fda" /><Relationship Type="http://schemas.openxmlformats.org/officeDocument/2006/relationships/slide" Target="/ppt/slides/slide3.xml" Id="R9d0053b03c1f423f" /><Relationship Type="http://schemas.openxmlformats.org/officeDocument/2006/relationships/slide" Target="/ppt/slides/slide4.xml" Id="R87685a13069e4690" /><Relationship Type="http://schemas.openxmlformats.org/officeDocument/2006/relationships/slide" Target="/ppt/slides/slide5.xml" Id="R9a852abac5824691" /><Relationship Type="http://schemas.openxmlformats.org/officeDocument/2006/relationships/slide" Target="/ppt/slides/slide6.xml" Id="R02f842f68e4042a3" /><Relationship Type="http://schemas.openxmlformats.org/officeDocument/2006/relationships/slide" Target="/ppt/slides/slide7.xml" Id="Rd0c6afbefe5c40e5" /><Relationship Type="http://schemas.openxmlformats.org/officeDocument/2006/relationships/slide" Target="/ppt/slides/slide8.xml" Id="Rf0e4bf39841c41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f00e7633b141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11b6985ab481c" /><Relationship Type="http://schemas.openxmlformats.org/officeDocument/2006/relationships/notesMaster" Target="/ppt/notesMasters/notesMaster1.xml" Id="R45c32fb23a9743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3edad079ed4c91" /><Relationship Type="http://schemas.openxmlformats.org/officeDocument/2006/relationships/notesMaster" Target="/ppt/notesMasters/notesMaster1.xml" Id="R70c908f5906f47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b9101579814636" /><Relationship Type="http://schemas.openxmlformats.org/officeDocument/2006/relationships/notesMaster" Target="/ppt/notesMasters/notesMaster1.xml" Id="R344a78d920114f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3b805c9fac4b9e" /><Relationship Type="http://schemas.openxmlformats.org/officeDocument/2006/relationships/notesMaster" Target="/ppt/notesMasters/notesMaster1.xml" Id="R69079f599870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ad7f4dc3894127" /><Relationship Type="http://schemas.openxmlformats.org/officeDocument/2006/relationships/notesMaster" Target="/ppt/notesMasters/notesMaster1.xml" Id="Rfb937317194448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cd47a125e44ff1" /><Relationship Type="http://schemas.openxmlformats.org/officeDocument/2006/relationships/notesMaster" Target="/ppt/notesMasters/notesMaster1.xml" Id="R9503969b2a5047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27f1e312fe4cda" /><Relationship Type="http://schemas.openxmlformats.org/officeDocument/2006/relationships/notesMaster" Target="/ppt/notesMasters/notesMaster1.xml" Id="R1ff0aae23d9140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f4e925b63e4199" /><Relationship Type="http://schemas.openxmlformats.org/officeDocument/2006/relationships/notesMaster" Target="/ppt/notesMasters/notesMaster1.xml" Id="R9ff8e3d15ae84c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is called After-Work Reset. We are creating an app that helps busy people relax and recover after a demanding day. It combines personalised digital recovery rituals with optional physical 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busy city residents come home physically tired, mentally overwhelmed, or both. They want to rest, but they often do not know what would help. Choosing an activity and preparing it can feel like too much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app asks the user how they feel and how much time they have. Then it gives them one recovery ritual to follow. Instead of scrolling through many options, the user can simply press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if a user feels mentally overwhelmed and has 15 minutes, the app could guide them through breathing, gentle stretching, calming audio, and a simple tea or shower suggestion.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offer products that support the recovery ritual, such as tea, an eye mask, magnesium spray, bath salts, or shower steamers. The product is optional, but it makes the ritual easier to repeat and creates a physical connection to the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research will include a short survey and interviews with busy city residents. We want to understand how people currently recover, what stops them, and whether decision fatigue is really the biggest barrier.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hypothesis is that people will use a short, ready-made ritual because it removes the need to plan or decide. Our initial competitor research shows that many existing apps offer a lot of content, but users can find too many choices overwhelming.</a:t>
            </a:r>
          </a:p>
          <a:p xmlns:a="http://schemas.openxmlformats.org/drawingml/2006/main">
            <a:r>
              <a:t/>
            </a:r>
          </a:p>
          <a:p xmlns:a="http://schemas.openxmlformats.org/drawingml/2006/main">
            <a:r>
              <a:t>[Sources]</a:t>
            </a:r>
          </a:p>
          <a:p xmlns:a="http://schemas.openxmlformats.org/drawingml/2006/main">
            <a:r>
              <a:t>Calm official product page: https://www.calm.com/?lang=en</a:t>
            </a:r>
          </a:p>
          <a:p xmlns:a="http://schemas.openxmlformats.org/drawingml/2006/main">
            <a:r>
              <a:t>Balance support: https://support.balanceapp.com/hc/en-us/articles/4407700854171-What-is-Balance</a:t>
            </a:r>
          </a:p>
          <a:p xmlns:a="http://schemas.openxmlformats.org/drawingml/2006/main">
            <a:r>
              <a:t>Reddit public discussion: https://www.reddit.com/r/ProductivityApps/comments/1ptm1ee/what_are_the_best_wellbeing_apps_you_have_tried/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to collect survey and interview feedback. Based on this, we will define the first version of the app, create a prototype, and test whether people would actually use it after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4cae1199549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4f076b43524ae8" /><Relationship Type="http://schemas.openxmlformats.org/officeDocument/2006/relationships/slideLayout" Target="/ppt/slideLayouts/slideLayout1.xml" Id="Rc5aa8e7ff86d45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aa8e7ff86d45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6300e5b7a842ff" /><Relationship Type="http://schemas.openxmlformats.org/officeDocument/2006/relationships/notesSlide" Target="/ppt/notesSlides/notesSlide1.xml" Id="Rae55de0bd41649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2fbfe869ac4f0a" /><Relationship Type="http://schemas.openxmlformats.org/officeDocument/2006/relationships/notesSlide" Target="/ppt/notesSlides/notesSlide2.xml" Id="R90cae08ced5345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09a50a55d344ab" /><Relationship Type="http://schemas.openxmlformats.org/officeDocument/2006/relationships/notesSlide" Target="/ppt/notesSlides/notesSlide3.xml" Id="R351f7738cd5642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22f2fc3c904d56" /><Relationship Type="http://schemas.openxmlformats.org/officeDocument/2006/relationships/notesSlide" Target="/ppt/notesSlides/notesSlide4.xml" Id="R3f4522b8ad7346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5084e4105345f5" /><Relationship Type="http://schemas.openxmlformats.org/officeDocument/2006/relationships/notesSlide" Target="/ppt/notesSlides/notesSlide5.xml" Id="Rf713a622e28747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e1e82a51f3475e" /><Relationship Type="http://schemas.openxmlformats.org/officeDocument/2006/relationships/notesSlide" Target="/ppt/notesSlides/notesSlide6.xml" Id="Rc46355ee572340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7ac66c84f844a3" /><Relationship Type="http://schemas.openxmlformats.org/officeDocument/2006/relationships/notesSlide" Target="/ppt/notesSlides/notesSlide7.xml" Id="R98a62df56e3344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71cd54fa3343bd" /><Relationship Type="http://schemas.openxmlformats.org/officeDocument/2006/relationships/notesSlide" Target="/ppt/notesSlides/notesSlide8.xml" Id="Rcd90d9d059324f47" /></Relationships>
</file>

<file path=ppt/slides/slide1.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8AB41F-C63C-434A-9BF3-FAB7FECFACB1}"/>
              </a:ext>
            </a:extLst>
          </p:cNvPr>
          <p:cNvSpPr>
            <a:spLocks xmlns:a="http://schemas.openxmlformats.org/drawingml/2006/main" noGrp="1"/>
          </p:cNvSpPr>
          <p:nvPr/>
        </p:nvSpPr>
        <p:spPr>
          <a:xfrm xmlns:a="http://schemas.openxmlformats.org/drawingml/2006/main">
            <a:off x="0" y="0"/>
            <a:ext cx="4667250" cy="6858000"/>
          </a:xfrm>
          <a:prstGeom xmlns:a="http://schemas.openxmlformats.org/drawingml/2006/main" prst="rect">
            <a:avLst/>
          </a:prstGeom>
          <a:solidFill xmlns:a="http://schemas.openxmlformats.org/drawingml/2006/main">
            <a:srgbClr val="DCCDF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1B4979-BE96-46E2-8097-E3E635956F9B}"/>
              </a:ext>
            </a:extLst>
          </p:cNvPr>
          <p:cNvSpPr>
            <a:spLocks xmlns:a="http://schemas.openxmlformats.org/drawingml/2006/main" noGrp="1"/>
          </p:cNvSpPr>
          <p:nvPr/>
        </p:nvSpPr>
        <p:spPr>
          <a:xfrm xmlns:a="http://schemas.openxmlformats.org/drawingml/2006/main">
            <a:off x="7143750" y="1238250"/>
            <a:ext cx="3714750" cy="3714750"/>
          </a:xfrm>
          <a:prstGeom xmlns:a="http://schemas.openxmlformats.org/drawingml/2006/main" prst="roundRect">
            <a:avLst>
              <a:gd name="adj" fmla="val 6154"/>
            </a:avLst>
          </a:prstGeom>
          <a:solidFill xmlns:a="http://schemas.openxmlformats.org/drawingml/2006/main">
            <a:srgbClr val="DDF3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35EC69-8434-4E7E-A810-B84A9AC9D7E3}"/>
              </a:ext>
            </a:extLst>
          </p:cNvPr>
          <p:cNvSpPr>
            <a:spLocks xmlns:a="http://schemas.openxmlformats.org/drawingml/2006/main" noGrp="1"/>
          </p:cNvSpPr>
          <p:nvPr/>
        </p:nvSpPr>
        <p:spPr>
          <a:xfrm xmlns:a="http://schemas.openxmlformats.org/drawingml/2006/main">
            <a:off x="609600" y="1381125"/>
            <a:ext cx="666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800" b="1">
                <a:solidFill>
                  <a:srgbClr val="201F27"/>
                </a:solidFill>
              </a:defRPr>
            </a:pPr>
            <a:r>
              <a:rPr sz="4800" b="1">
                <a:solidFill>
                  <a:srgbClr val="201F27"/>
                </a:solidFill>
              </a:rPr>
              <a:t>AFTER-WORK</a:t>
            </a:r>
          </a:p>
          <a:p xmlns:a="http://schemas.openxmlformats.org/drawingml/2006/main">
            <a:pPr algn="l">
              <a:defRPr sz="4800" b="1">
                <a:solidFill>
                  <a:srgbClr val="201F27"/>
                </a:solidFill>
              </a:defRPr>
            </a:pPr>
            <a:r>
              <a:rPr sz="4800" b="1">
                <a:solidFill>
                  <a:srgbClr val="201F27"/>
                </a:solidFill>
              </a:rPr>
              <a:t>RESET</a:t>
            </a:r>
          </a:p>
        </p:txBody>
      </p:sp>
      <p:sp>
        <p:nvSpPr>
          <p:cNvPr id="4" name="">
            <a:extLst xmlns:a="http://schemas.openxmlformats.org/drawingml/2006/main">
              <a:ext uri="{FF2B5EF4-FFF2-40B4-BE49-F238E27FC236}">
                <a16:creationId xmlns:a16="http://schemas.microsoft.com/office/drawing/2014/main" id="{3A2E6C74-3E05-4663-8265-3EF147BAE0B5}"/>
              </a:ext>
            </a:extLst>
          </p:cNvPr>
          <p:cNvSpPr>
            <a:spLocks xmlns:a="http://schemas.openxmlformats.org/drawingml/2006/main" noGrp="1"/>
          </p:cNvSpPr>
          <p:nvPr/>
        </p:nvSpPr>
        <p:spPr>
          <a:xfrm xmlns:a="http://schemas.openxmlformats.org/drawingml/2006/main">
            <a:off x="647700" y="333375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201F27"/>
                </a:solidFill>
              </a:defRPr>
            </a:pPr>
            <a:r>
              <a:rPr sz="2025" b="0">
                <a:solidFill>
                  <a:srgbClr val="201F27"/>
                </a:solidFill>
              </a:rPr>
              <a:t>A personalised recovery app</a:t>
            </a:r>
          </a:p>
          <a:p xmlns:a="http://schemas.openxmlformats.org/drawingml/2006/main">
            <a:pPr algn="l">
              <a:defRPr sz="2025" b="0">
                <a:solidFill>
                  <a:srgbClr val="201F27"/>
                </a:solidFill>
              </a:defRPr>
            </a:pPr>
            <a:r>
              <a:rPr sz="2025" b="0">
                <a:solidFill>
                  <a:srgbClr val="201F27"/>
                </a:solidFill>
              </a:rPr>
              <a:t>and product kit</a:t>
            </a:r>
          </a:p>
        </p:txBody>
      </p:sp>
      <p:sp>
        <p:nvSpPr>
          <p:cNvPr id="5" name="">
            <a:extLst xmlns:a="http://schemas.openxmlformats.org/drawingml/2006/main">
              <a:ext uri="{FF2B5EF4-FFF2-40B4-BE49-F238E27FC236}">
                <a16:creationId xmlns:a16="http://schemas.microsoft.com/office/drawing/2014/main" id="{0EA238C0-2033-4063-89F3-B8CF81703A46}"/>
              </a:ext>
            </a:extLst>
          </p:cNvPr>
          <p:cNvSpPr>
            <a:spLocks xmlns:a="http://schemas.openxmlformats.org/drawingml/2006/main" noGrp="1"/>
          </p:cNvSpPr>
          <p:nvPr/>
        </p:nvSpPr>
        <p:spPr>
          <a:xfrm xmlns:a="http://schemas.openxmlformats.org/drawingml/2006/main">
            <a:off x="647700" y="58578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6575"/>
                </a:solidFill>
              </a:defRPr>
            </a:pPr>
            <a:r>
              <a:rPr sz="1275" b="0">
                <a:solidFill>
                  <a:srgbClr val="686575"/>
                </a:solidFill>
              </a:rPr>
              <a:t>Milestone II · Pre-Project Package</a:t>
            </a:r>
          </a:p>
        </p:txBody>
      </p:sp>
      <p:sp>
        <p:nvSpPr>
          <p:cNvPr id="6" name="">
            <a:extLst xmlns:a="http://schemas.openxmlformats.org/drawingml/2006/main">
              <a:ext uri="{FF2B5EF4-FFF2-40B4-BE49-F238E27FC236}">
                <a16:creationId xmlns:a16="http://schemas.microsoft.com/office/drawing/2014/main" id="{439378F0-15C3-4A2B-BFF8-8BF8A8F3A866}"/>
              </a:ext>
            </a:extLst>
          </p:cNvPr>
          <p:cNvSpPr>
            <a:spLocks xmlns:a="http://schemas.openxmlformats.org/drawingml/2006/main" noGrp="1"/>
          </p:cNvSpPr>
          <p:nvPr/>
        </p:nvSpPr>
        <p:spPr>
          <a:xfrm xmlns:a="http://schemas.openxmlformats.org/drawingml/2006/main">
            <a:off x="10144125" y="5429250"/>
            <a:ext cx="1000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4200" b="1">
                <a:solidFill>
                  <a:srgbClr val="7B4DFF"/>
                </a:solidFill>
              </a:defRPr>
            </a:pPr>
            <a:r>
              <a:rPr sz="4200" b="1">
                <a:solidFill>
                  <a:srgbClr val="7B4DFF"/>
                </a:solidFill>
              </a:rPr>
              <a:t>01</a:t>
            </a:r>
          </a:p>
        </p:txBody>
      </p:sp>
    </p:spTree>
    <p:extLst>
      <p:ext uri="{BB962C8B-B14F-4D97-AF65-F5344CB8AC3E}">
        <p14:creationId xmlns:p14="http://schemas.microsoft.com/office/powerpoint/2010/main" val="647046778"/>
      </p:ext>
    </p:extLst>
  </p:cSld>
</p:sld>
</file>

<file path=ppt/slides/slide2.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DA9A5A-C964-43A1-A829-3D7C5F63ECB7}"/>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225E748F-F579-492B-A90D-44233DAB979C}"/>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02</a:t>
            </a:r>
          </a:p>
        </p:txBody>
      </p:sp>
      <p:sp>
        <p:nvSpPr>
          <p:cNvPr id="3" name="">
            <a:extLst xmlns:a="http://schemas.openxmlformats.org/drawingml/2006/main">
              <a:ext uri="{FF2B5EF4-FFF2-40B4-BE49-F238E27FC236}">
                <a16:creationId xmlns:a16="http://schemas.microsoft.com/office/drawing/2014/main" id="{BE9D4C91-3942-4A80-BEAF-9F1290D1F271}"/>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693E1C-EC29-45F0-8422-F224545AA309}"/>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Recovery should not feel like</a:t>
            </a:r>
          </a:p>
          <a:p xmlns:a="http://schemas.openxmlformats.org/drawingml/2006/main">
            <a:pPr algn="l">
              <a:defRPr sz="3450" b="1">
                <a:solidFill>
                  <a:srgbClr val="201F27"/>
                </a:solidFill>
              </a:defRPr>
            </a:pPr>
            <a:r>
              <a:rPr sz="3450" b="1">
                <a:solidFill>
                  <a:srgbClr val="201F27"/>
                </a:solidFill>
              </a:rPr>
              <a:t>another task.</a:t>
            </a:r>
          </a:p>
        </p:txBody>
      </p:sp>
      <p:sp>
        <p:nvSpPr>
          <p:cNvPr id="5" name="">
            <a:extLst xmlns:a="http://schemas.openxmlformats.org/drawingml/2006/main">
              <a:ext uri="{FF2B5EF4-FFF2-40B4-BE49-F238E27FC236}">
                <a16:creationId xmlns:a16="http://schemas.microsoft.com/office/drawing/2014/main" id="{B435D89D-15F1-491E-9A2A-E14850A8E04B}"/>
              </a:ext>
            </a:extLst>
          </p:cNvPr>
          <p:cNvSpPr>
            <a:spLocks xmlns:a="http://schemas.openxmlformats.org/drawingml/2006/main" noGrp="1"/>
          </p:cNvSpPr>
          <p:nvPr/>
        </p:nvSpPr>
        <p:spPr>
          <a:xfrm xmlns:a="http://schemas.openxmlformats.org/drawingml/2006/main">
            <a:off x="609600" y="2857500"/>
            <a:ext cx="5238750" cy="2238375"/>
          </a:xfrm>
          <a:prstGeom xmlns:a="http://schemas.openxmlformats.org/drawingml/2006/main" prst="roundRect">
            <a:avLst>
              <a:gd name="adj" fmla="val 5106"/>
            </a:avLst>
          </a:prstGeom>
          <a:solidFill xmlns:a="http://schemas.openxmlformats.org/drawingml/2006/main">
            <a:srgbClr val="DCCDF8"/>
          </a:solidFill>
          <a:ln xmlns:a="http://schemas.openxmlformats.org/drawingml/2006/main" w="19050">
            <a:solidFill>
              <a:srgbClr val="7B4DFF"/>
            </a:solidFill>
            <a:prstDash val="solid"/>
          </a:ln>
        </p:spPr>
      </p:sp>
      <p:sp>
        <p:nvSpPr>
          <p:cNvPr id="6" name="">
            <a:extLst xmlns:a="http://schemas.openxmlformats.org/drawingml/2006/main">
              <a:ext uri="{FF2B5EF4-FFF2-40B4-BE49-F238E27FC236}">
                <a16:creationId xmlns:a16="http://schemas.microsoft.com/office/drawing/2014/main" id="{761D530E-0100-4CE6-B0B1-5AA7D0495607}"/>
              </a:ext>
            </a:extLst>
          </p:cNvPr>
          <p:cNvSpPr>
            <a:spLocks xmlns:a="http://schemas.openxmlformats.org/drawingml/2006/main" noGrp="1"/>
          </p:cNvSpPr>
          <p:nvPr/>
        </p:nvSpPr>
        <p:spPr>
          <a:xfrm xmlns:a="http://schemas.openxmlformats.org/drawingml/2006/main">
            <a:off x="876300" y="3143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After a demanding day</a:t>
            </a:r>
          </a:p>
        </p:txBody>
      </p:sp>
      <p:sp>
        <p:nvSpPr>
          <p:cNvPr id="7" name="">
            <a:extLst xmlns:a="http://schemas.openxmlformats.org/drawingml/2006/main">
              <a:ext uri="{FF2B5EF4-FFF2-40B4-BE49-F238E27FC236}">
                <a16:creationId xmlns:a16="http://schemas.microsoft.com/office/drawing/2014/main" id="{7CDD33B8-E5C5-4002-9045-16B77DE66664}"/>
              </a:ext>
            </a:extLst>
          </p:cNvPr>
          <p:cNvSpPr>
            <a:spLocks xmlns:a="http://schemas.openxmlformats.org/drawingml/2006/main" noGrp="1"/>
          </p:cNvSpPr>
          <p:nvPr/>
        </p:nvSpPr>
        <p:spPr>
          <a:xfrm xmlns:a="http://schemas.openxmlformats.org/drawingml/2006/main">
            <a:off x="876300" y="3600450"/>
            <a:ext cx="4381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F27"/>
                </a:solidFill>
              </a:defRPr>
            </a:pPr>
            <a:r>
              <a:rPr sz="2100" b="1">
                <a:solidFill>
                  <a:srgbClr val="201F27"/>
                </a:solidFill>
              </a:rPr>
              <a:t>People arrive home physically tired, mentally overwhelmed, or both.</a:t>
            </a:r>
          </a:p>
        </p:txBody>
      </p:sp>
      <p:sp>
        <p:nvSpPr>
          <p:cNvPr id="8" name="">
            <a:extLst xmlns:a="http://schemas.openxmlformats.org/drawingml/2006/main">
              <a:ext uri="{FF2B5EF4-FFF2-40B4-BE49-F238E27FC236}">
                <a16:creationId xmlns:a16="http://schemas.microsoft.com/office/drawing/2014/main" id="{D7163E2F-B395-4D9D-B3C5-A17375A0B685}"/>
              </a:ext>
            </a:extLst>
          </p:cNvPr>
          <p:cNvSpPr>
            <a:spLocks xmlns:a="http://schemas.openxmlformats.org/drawingml/2006/main" noGrp="1"/>
          </p:cNvSpPr>
          <p:nvPr/>
        </p:nvSpPr>
        <p:spPr>
          <a:xfrm xmlns:a="http://schemas.openxmlformats.org/drawingml/2006/main">
            <a:off x="6477000" y="2857500"/>
            <a:ext cx="449580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19050">
            <a:solidFill>
              <a:srgbClr val="7B4DFF"/>
            </a:solidFill>
            <a:prstDash val="solid"/>
          </a:ln>
        </p:spPr>
      </p:sp>
      <p:sp>
        <p:nvSpPr>
          <p:cNvPr id="9" name="">
            <a:extLst xmlns:a="http://schemas.openxmlformats.org/drawingml/2006/main">
              <a:ext uri="{FF2B5EF4-FFF2-40B4-BE49-F238E27FC236}">
                <a16:creationId xmlns:a16="http://schemas.microsoft.com/office/drawing/2014/main" id="{BBEC10F4-AB75-4983-BDA0-246A1C43BEF8}"/>
              </a:ext>
            </a:extLst>
          </p:cNvPr>
          <p:cNvSpPr>
            <a:spLocks xmlns:a="http://schemas.openxmlformats.org/drawingml/2006/main" noGrp="1"/>
          </p:cNvSpPr>
          <p:nvPr/>
        </p:nvSpPr>
        <p:spPr>
          <a:xfrm xmlns:a="http://schemas.openxmlformats.org/drawingml/2006/main">
            <a:off x="6762750" y="3143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The friction</a:t>
            </a:r>
          </a:p>
        </p:txBody>
      </p:sp>
      <p:sp>
        <p:nvSpPr>
          <p:cNvPr id="10" name="">
            <a:extLst xmlns:a="http://schemas.openxmlformats.org/drawingml/2006/main">
              <a:ext uri="{FF2B5EF4-FFF2-40B4-BE49-F238E27FC236}">
                <a16:creationId xmlns:a16="http://schemas.microsoft.com/office/drawing/2014/main" id="{7A8D90CA-0010-4B2B-A93C-EE21E20FB3C7}"/>
              </a:ext>
            </a:extLst>
          </p:cNvPr>
          <p:cNvSpPr>
            <a:spLocks xmlns:a="http://schemas.openxmlformats.org/drawingml/2006/main" noGrp="1"/>
          </p:cNvSpPr>
          <p:nvPr/>
        </p:nvSpPr>
        <p:spPr>
          <a:xfrm xmlns:a="http://schemas.openxmlformats.org/drawingml/2006/main">
            <a:off x="6762750" y="36004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F27"/>
                </a:solidFill>
              </a:defRPr>
            </a:pPr>
            <a:r>
              <a:rPr sz="2100" b="1">
                <a:solidFill>
                  <a:srgbClr val="201F27"/>
                </a:solidFill>
              </a:rPr>
              <a:t>Choosing what to do and preparing it can feel like too much effort.</a:t>
            </a:r>
          </a:p>
        </p:txBody>
      </p:sp>
    </p:spTree>
    <p:extLst>
      <p:ext uri="{BB962C8B-B14F-4D97-AF65-F5344CB8AC3E}">
        <p14:creationId xmlns:p14="http://schemas.microsoft.com/office/powerpoint/2010/main" val="1247341658"/>
      </p:ext>
    </p:extLst>
  </p:cSld>
</p:sld>
</file>

<file path=ppt/slides/slide3.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EEDE4B-39E0-4D23-9C76-448836D5AA21}"/>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3551841D-3CEF-46CF-BBFA-6952624E82CF}"/>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03</a:t>
            </a:r>
          </a:p>
        </p:txBody>
      </p:sp>
      <p:sp>
        <p:nvSpPr>
          <p:cNvPr id="3" name="">
            <a:extLst xmlns:a="http://schemas.openxmlformats.org/drawingml/2006/main">
              <a:ext uri="{FF2B5EF4-FFF2-40B4-BE49-F238E27FC236}">
                <a16:creationId xmlns:a16="http://schemas.microsoft.com/office/drawing/2014/main" id="{AF8B39EE-C643-46F0-B512-95F8C80CE971}"/>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B69F06-DC51-462B-950E-5DF216ADA15B}"/>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One personalised recovery ritual.</a:t>
            </a:r>
          </a:p>
        </p:txBody>
      </p:sp>
      <p:sp>
        <p:nvSpPr>
          <p:cNvPr id="5" name="">
            <a:extLst xmlns:a="http://schemas.openxmlformats.org/drawingml/2006/main">
              <a:ext uri="{FF2B5EF4-FFF2-40B4-BE49-F238E27FC236}">
                <a16:creationId xmlns:a16="http://schemas.microsoft.com/office/drawing/2014/main" id="{EC9B7AE3-D4A1-4E47-8192-EA82BDEA1D96}"/>
              </a:ext>
            </a:extLst>
          </p:cNvPr>
          <p:cNvSpPr>
            <a:spLocks xmlns:a="http://schemas.openxmlformats.org/drawingml/2006/main" noGrp="1"/>
          </p:cNvSpPr>
          <p:nvPr/>
        </p:nvSpPr>
        <p:spPr>
          <a:xfrm xmlns:a="http://schemas.openxmlformats.org/drawingml/2006/main">
            <a:off x="609600" y="177165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686575"/>
                </a:solidFill>
              </a:defRPr>
            </a:pPr>
            <a:r>
              <a:rPr sz="1650" b="0">
                <a:solidFill>
                  <a:srgbClr val="686575"/>
                </a:solidFill>
              </a:rPr>
              <a:t>No planning. No decision fatigue.</a:t>
            </a:r>
          </a:p>
        </p:txBody>
      </p:sp>
      <p:sp>
        <p:nvSpPr>
          <p:cNvPr id="6" name="">
            <a:extLst xmlns:a="http://schemas.openxmlformats.org/drawingml/2006/main">
              <a:ext uri="{FF2B5EF4-FFF2-40B4-BE49-F238E27FC236}">
                <a16:creationId xmlns:a16="http://schemas.microsoft.com/office/drawing/2014/main" id="{701B918A-874C-4BDD-848C-6206BFD5BFF6}"/>
              </a:ext>
            </a:extLst>
          </p:cNvPr>
          <p:cNvSpPr>
            <a:spLocks xmlns:a="http://schemas.openxmlformats.org/drawingml/2006/main" noGrp="1"/>
          </p:cNvSpPr>
          <p:nvPr/>
        </p:nvSpPr>
        <p:spPr>
          <a:xfrm xmlns:a="http://schemas.openxmlformats.org/drawingml/2006/main">
            <a:off x="609600" y="2857500"/>
            <a:ext cx="10972800" cy="1866900"/>
          </a:xfrm>
          <a:prstGeom xmlns:a="http://schemas.openxmlformats.org/drawingml/2006/main" prst="roundRect">
            <a:avLst>
              <a:gd name="adj" fmla="val 6122"/>
            </a:avLst>
          </a:prstGeom>
          <a:solidFill xmlns:a="http://schemas.openxmlformats.org/drawingml/2006/main">
            <a:srgbClr val="DCCDF8"/>
          </a:solidFill>
          <a:ln xmlns:a="http://schemas.openxmlformats.org/drawingml/2006/main" w="19050">
            <a:solidFill>
              <a:srgbClr val="7B4DFF"/>
            </a:solidFill>
            <a:prstDash val="solid"/>
          </a:ln>
        </p:spPr>
      </p:sp>
      <p:sp>
        <p:nvSpPr>
          <p:cNvPr id="7" name="">
            <a:extLst xmlns:a="http://schemas.openxmlformats.org/drawingml/2006/main">
              <a:ext uri="{FF2B5EF4-FFF2-40B4-BE49-F238E27FC236}">
                <a16:creationId xmlns:a16="http://schemas.microsoft.com/office/drawing/2014/main" id="{442A6649-0E92-4162-B1A1-67CF3BE18C85}"/>
              </a:ext>
            </a:extLst>
          </p:cNvPr>
          <p:cNvSpPr>
            <a:spLocks xmlns:a="http://schemas.openxmlformats.org/drawingml/2006/main" noGrp="1"/>
          </p:cNvSpPr>
          <p:nvPr/>
        </p:nvSpPr>
        <p:spPr>
          <a:xfrm xmlns:a="http://schemas.openxmlformats.org/drawingml/2006/main">
            <a:off x="876300" y="31051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HOW IT WORKS</a:t>
            </a:r>
          </a:p>
        </p:txBody>
      </p:sp>
      <p:sp>
        <p:nvSpPr>
          <p:cNvPr id="8" name="">
            <a:extLst xmlns:a="http://schemas.openxmlformats.org/drawingml/2006/main">
              <a:ext uri="{FF2B5EF4-FFF2-40B4-BE49-F238E27FC236}">
                <a16:creationId xmlns:a16="http://schemas.microsoft.com/office/drawing/2014/main" id="{1242E648-972A-4EC3-8722-2F3B304B5CC9}"/>
              </a:ext>
            </a:extLst>
          </p:cNvPr>
          <p:cNvSpPr>
            <a:spLocks xmlns:a="http://schemas.openxmlformats.org/drawingml/2006/main" noGrp="1"/>
          </p:cNvSpPr>
          <p:nvPr/>
        </p:nvSpPr>
        <p:spPr>
          <a:xfrm xmlns:a="http://schemas.openxmlformats.org/drawingml/2006/main">
            <a:off x="876300" y="3571875"/>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01F27"/>
                </a:solidFill>
              </a:defRPr>
            </a:pPr>
            <a:r>
              <a:rPr sz="2250" b="1">
                <a:solidFill>
                  <a:srgbClr val="201F27"/>
                </a:solidFill>
              </a:rPr>
              <a:t>How do you feel?  →  How much time do you have?  →  Your ritual is ready.</a:t>
            </a:r>
          </a:p>
        </p:txBody>
      </p:sp>
      <p:sp>
        <p:nvSpPr>
          <p:cNvPr id="9" name="">
            <a:extLst xmlns:a="http://schemas.openxmlformats.org/drawingml/2006/main">
              <a:ext uri="{FF2B5EF4-FFF2-40B4-BE49-F238E27FC236}">
                <a16:creationId xmlns:a16="http://schemas.microsoft.com/office/drawing/2014/main" id="{1F0FE8D4-9126-409E-82DF-C40A23E35180}"/>
              </a:ext>
            </a:extLst>
          </p:cNvPr>
          <p:cNvSpPr>
            <a:spLocks xmlns:a="http://schemas.openxmlformats.org/drawingml/2006/main" noGrp="1"/>
          </p:cNvSpPr>
          <p:nvPr/>
        </p:nvSpPr>
        <p:spPr>
          <a:xfrm xmlns:a="http://schemas.openxmlformats.org/drawingml/2006/main">
            <a:off x="876300" y="426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86575"/>
                </a:solidFill>
              </a:defRPr>
            </a:pPr>
            <a:r>
              <a:rPr sz="1425" b="0">
                <a:solidFill>
                  <a:srgbClr val="686575"/>
                </a:solidFill>
              </a:rPr>
              <a:t>The user does not browse a content library. They press Start.</a:t>
            </a:r>
          </a:p>
        </p:txBody>
      </p:sp>
    </p:spTree>
    <p:extLst>
      <p:ext uri="{BB962C8B-B14F-4D97-AF65-F5344CB8AC3E}">
        <p14:creationId xmlns:p14="http://schemas.microsoft.com/office/powerpoint/2010/main" val="1439725937"/>
      </p:ext>
    </p:extLst>
  </p:cSld>
</p:sld>
</file>

<file path=ppt/slides/slide4.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805F105-3475-4B87-B98D-580BD0657443}"/>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FCD0DEA7-399F-4795-98ED-4510BCF59172}"/>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04</a:t>
            </a:r>
          </a:p>
        </p:txBody>
      </p:sp>
      <p:sp>
        <p:nvSpPr>
          <p:cNvPr id="3" name="">
            <a:extLst xmlns:a="http://schemas.openxmlformats.org/drawingml/2006/main">
              <a:ext uri="{FF2B5EF4-FFF2-40B4-BE49-F238E27FC236}">
                <a16:creationId xmlns:a16="http://schemas.microsoft.com/office/drawing/2014/main" id="{651CBB91-897B-4CA8-A921-4B962FE0ED3E}"/>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1E8BB0-1CBA-439E-94AB-6772860BDC45}"/>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A ritual combines the right</a:t>
            </a:r>
          </a:p>
          <a:p xmlns:a="http://schemas.openxmlformats.org/drawingml/2006/main">
            <a:pPr algn="l">
              <a:defRPr sz="3450" b="1">
                <a:solidFill>
                  <a:srgbClr val="201F27"/>
                </a:solidFill>
              </a:defRPr>
            </a:pPr>
            <a:r>
              <a:rPr sz="3450" b="1">
                <a:solidFill>
                  <a:srgbClr val="201F27"/>
                </a:solidFill>
              </a:rPr>
              <a:t>recovery elements.</a:t>
            </a:r>
          </a:p>
        </p:txBody>
      </p:sp>
      <p:sp>
        <p:nvSpPr>
          <p:cNvPr id="5" name="">
            <a:extLst xmlns:a="http://schemas.openxmlformats.org/drawingml/2006/main">
              <a:ext uri="{FF2B5EF4-FFF2-40B4-BE49-F238E27FC236}">
                <a16:creationId xmlns:a16="http://schemas.microsoft.com/office/drawing/2014/main" id="{9853034E-6D8B-41FB-86A3-4E335B18E573}"/>
              </a:ext>
            </a:extLst>
          </p:cNvPr>
          <p:cNvSpPr>
            <a:spLocks xmlns:a="http://schemas.openxmlformats.org/drawingml/2006/main" noGrp="1"/>
          </p:cNvSpPr>
          <p:nvPr/>
        </p:nvSpPr>
        <p:spPr>
          <a:xfrm xmlns:a="http://schemas.openxmlformats.org/drawingml/2006/main">
            <a:off x="609600" y="177165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686575"/>
                </a:solidFill>
              </a:defRPr>
            </a:pPr>
            <a:r>
              <a:rPr sz="1650" b="0">
                <a:solidFill>
                  <a:srgbClr val="686575"/>
                </a:solidFill>
              </a:rPr>
              <a:t>Example: mentally overwhelmed + 15 minutes</a:t>
            </a:r>
          </a:p>
        </p:txBody>
      </p:sp>
      <p:sp>
        <p:nvSpPr>
          <p:cNvPr id="6" name="">
            <a:extLst xmlns:a="http://schemas.openxmlformats.org/drawingml/2006/main">
              <a:ext uri="{FF2B5EF4-FFF2-40B4-BE49-F238E27FC236}">
                <a16:creationId xmlns:a16="http://schemas.microsoft.com/office/drawing/2014/main" id="{3E218E7C-DF9B-4421-A577-C9A7D4BFD574}"/>
              </a:ext>
            </a:extLst>
          </p:cNvPr>
          <p:cNvSpPr>
            <a:spLocks xmlns:a="http://schemas.openxmlformats.org/drawingml/2006/main" noGrp="1"/>
          </p:cNvSpPr>
          <p:nvPr/>
        </p:nvSpPr>
        <p:spPr>
          <a:xfrm xmlns:a="http://schemas.openxmlformats.org/drawingml/2006/main">
            <a:off x="609600" y="2952750"/>
            <a:ext cx="21907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7B4DFF"/>
            </a:solidFill>
            <a:prstDash val="solid"/>
          </a:ln>
        </p:spPr>
      </p:sp>
      <p:sp>
        <p:nvSpPr>
          <p:cNvPr id="7" name="">
            <a:extLst xmlns:a="http://schemas.openxmlformats.org/drawingml/2006/main">
              <a:ext uri="{FF2B5EF4-FFF2-40B4-BE49-F238E27FC236}">
                <a16:creationId xmlns:a16="http://schemas.microsoft.com/office/drawing/2014/main" id="{23B82F16-80B6-4ABA-9690-D729D0B9ADDE}"/>
              </a:ext>
            </a:extLst>
          </p:cNvPr>
          <p:cNvSpPr>
            <a:spLocks xmlns:a="http://schemas.openxmlformats.org/drawingml/2006/main" noGrp="1"/>
          </p:cNvSpPr>
          <p:nvPr/>
        </p:nvSpPr>
        <p:spPr>
          <a:xfrm xmlns:a="http://schemas.openxmlformats.org/drawingml/2006/main">
            <a:off x="819150" y="3143250"/>
            <a:ext cx="42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01</a:t>
            </a:r>
          </a:p>
        </p:txBody>
      </p:sp>
      <p:sp>
        <p:nvSpPr>
          <p:cNvPr id="8" name="">
            <a:extLst xmlns:a="http://schemas.openxmlformats.org/drawingml/2006/main">
              <a:ext uri="{FF2B5EF4-FFF2-40B4-BE49-F238E27FC236}">
                <a16:creationId xmlns:a16="http://schemas.microsoft.com/office/drawing/2014/main" id="{A866CE2D-FEED-40A8-A555-C7C34DC844E7}"/>
              </a:ext>
            </a:extLst>
          </p:cNvPr>
          <p:cNvSpPr>
            <a:spLocks xmlns:a="http://schemas.openxmlformats.org/drawingml/2006/main" noGrp="1"/>
          </p:cNvSpPr>
          <p:nvPr/>
        </p:nvSpPr>
        <p:spPr>
          <a:xfrm xmlns:a="http://schemas.openxmlformats.org/drawingml/2006/main">
            <a:off x="819150" y="3524250"/>
            <a:ext cx="1762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F27"/>
                </a:solidFill>
              </a:defRPr>
            </a:pPr>
            <a:r>
              <a:rPr sz="1725" b="1">
                <a:solidFill>
                  <a:srgbClr val="201F27"/>
                </a:solidFill>
              </a:rPr>
              <a:t>Breathe</a:t>
            </a:r>
          </a:p>
        </p:txBody>
      </p:sp>
      <p:sp>
        <p:nvSpPr>
          <p:cNvPr id="9" name="">
            <a:extLst xmlns:a="http://schemas.openxmlformats.org/drawingml/2006/main">
              <a:ext uri="{FF2B5EF4-FFF2-40B4-BE49-F238E27FC236}">
                <a16:creationId xmlns:a16="http://schemas.microsoft.com/office/drawing/2014/main" id="{D3B676DA-9EF0-4ACE-9A53-A32848D9B6D6}"/>
              </a:ext>
            </a:extLst>
          </p:cNvPr>
          <p:cNvSpPr>
            <a:spLocks xmlns:a="http://schemas.openxmlformats.org/drawingml/2006/main" noGrp="1"/>
          </p:cNvSpPr>
          <p:nvPr/>
        </p:nvSpPr>
        <p:spPr>
          <a:xfrm xmlns:a="http://schemas.openxmlformats.org/drawingml/2006/main">
            <a:off x="819150" y="3962400"/>
            <a:ext cx="1762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2 minutes to slow down</a:t>
            </a:r>
          </a:p>
        </p:txBody>
      </p:sp>
      <p:sp>
        <p:nvSpPr>
          <p:cNvPr id="10" name="">
            <a:extLst xmlns:a="http://schemas.openxmlformats.org/drawingml/2006/main">
              <a:ext uri="{FF2B5EF4-FFF2-40B4-BE49-F238E27FC236}">
                <a16:creationId xmlns:a16="http://schemas.microsoft.com/office/drawing/2014/main" id="{9282416F-AA91-45EC-9C6D-8042FA67E862}"/>
              </a:ext>
            </a:extLst>
          </p:cNvPr>
          <p:cNvSpPr>
            <a:spLocks xmlns:a="http://schemas.openxmlformats.org/drawingml/2006/main" noGrp="1"/>
          </p:cNvSpPr>
          <p:nvPr/>
        </p:nvSpPr>
        <p:spPr>
          <a:xfrm xmlns:a="http://schemas.openxmlformats.org/drawingml/2006/main">
            <a:off x="3143250" y="2952750"/>
            <a:ext cx="21907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7B4DFF"/>
            </a:solidFill>
            <a:prstDash val="solid"/>
          </a:ln>
        </p:spPr>
      </p:sp>
      <p:sp>
        <p:nvSpPr>
          <p:cNvPr id="11" name="">
            <a:extLst xmlns:a="http://schemas.openxmlformats.org/drawingml/2006/main">
              <a:ext uri="{FF2B5EF4-FFF2-40B4-BE49-F238E27FC236}">
                <a16:creationId xmlns:a16="http://schemas.microsoft.com/office/drawing/2014/main" id="{6E68BFAE-7433-4AF1-9A35-A51420BB4306}"/>
              </a:ext>
            </a:extLst>
          </p:cNvPr>
          <p:cNvSpPr>
            <a:spLocks xmlns:a="http://schemas.openxmlformats.org/drawingml/2006/main" noGrp="1"/>
          </p:cNvSpPr>
          <p:nvPr/>
        </p:nvSpPr>
        <p:spPr>
          <a:xfrm xmlns:a="http://schemas.openxmlformats.org/drawingml/2006/main">
            <a:off x="3352800" y="3143250"/>
            <a:ext cx="42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02</a:t>
            </a:r>
          </a:p>
        </p:txBody>
      </p:sp>
      <p:sp>
        <p:nvSpPr>
          <p:cNvPr id="12" name="">
            <a:extLst xmlns:a="http://schemas.openxmlformats.org/drawingml/2006/main">
              <a:ext uri="{FF2B5EF4-FFF2-40B4-BE49-F238E27FC236}">
                <a16:creationId xmlns:a16="http://schemas.microsoft.com/office/drawing/2014/main" id="{5E0BC142-8754-427B-A1C6-E7AE254D08C5}"/>
              </a:ext>
            </a:extLst>
          </p:cNvPr>
          <p:cNvSpPr>
            <a:spLocks xmlns:a="http://schemas.openxmlformats.org/drawingml/2006/main" noGrp="1"/>
          </p:cNvSpPr>
          <p:nvPr/>
        </p:nvSpPr>
        <p:spPr>
          <a:xfrm xmlns:a="http://schemas.openxmlformats.org/drawingml/2006/main">
            <a:off x="3352800" y="3524250"/>
            <a:ext cx="1762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F27"/>
                </a:solidFill>
              </a:defRPr>
            </a:pPr>
            <a:r>
              <a:rPr sz="1725" b="1">
                <a:solidFill>
                  <a:srgbClr val="201F27"/>
                </a:solidFill>
              </a:rPr>
              <a:t>Move</a:t>
            </a:r>
          </a:p>
        </p:txBody>
      </p:sp>
      <p:sp>
        <p:nvSpPr>
          <p:cNvPr id="13" name="">
            <a:extLst xmlns:a="http://schemas.openxmlformats.org/drawingml/2006/main">
              <a:ext uri="{FF2B5EF4-FFF2-40B4-BE49-F238E27FC236}">
                <a16:creationId xmlns:a16="http://schemas.microsoft.com/office/drawing/2014/main" id="{9EFE6102-2BBF-4D60-8455-650F2296B7B9}"/>
              </a:ext>
            </a:extLst>
          </p:cNvPr>
          <p:cNvSpPr>
            <a:spLocks xmlns:a="http://schemas.openxmlformats.org/drawingml/2006/main" noGrp="1"/>
          </p:cNvSpPr>
          <p:nvPr/>
        </p:nvSpPr>
        <p:spPr>
          <a:xfrm xmlns:a="http://schemas.openxmlformats.org/drawingml/2006/main">
            <a:off x="3352800" y="3962400"/>
            <a:ext cx="1762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5 minutes of gentle stretching</a:t>
            </a:r>
          </a:p>
        </p:txBody>
      </p:sp>
      <p:sp>
        <p:nvSpPr>
          <p:cNvPr id="14" name="">
            <a:extLst xmlns:a="http://schemas.openxmlformats.org/drawingml/2006/main">
              <a:ext uri="{FF2B5EF4-FFF2-40B4-BE49-F238E27FC236}">
                <a16:creationId xmlns:a16="http://schemas.microsoft.com/office/drawing/2014/main" id="{E077232E-C566-4E3B-B586-E616CA233C71}"/>
              </a:ext>
            </a:extLst>
          </p:cNvPr>
          <p:cNvSpPr>
            <a:spLocks xmlns:a="http://schemas.openxmlformats.org/drawingml/2006/main" noGrp="1"/>
          </p:cNvSpPr>
          <p:nvPr/>
        </p:nvSpPr>
        <p:spPr>
          <a:xfrm xmlns:a="http://schemas.openxmlformats.org/drawingml/2006/main">
            <a:off x="5676900" y="2952750"/>
            <a:ext cx="21907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7B4DFF"/>
            </a:solidFill>
            <a:prstDash val="solid"/>
          </a:ln>
        </p:spPr>
      </p:sp>
      <p:sp>
        <p:nvSpPr>
          <p:cNvPr id="15" name="">
            <a:extLst xmlns:a="http://schemas.openxmlformats.org/drawingml/2006/main">
              <a:ext uri="{FF2B5EF4-FFF2-40B4-BE49-F238E27FC236}">
                <a16:creationId xmlns:a16="http://schemas.microsoft.com/office/drawing/2014/main" id="{1646D0D5-B4CF-4385-9B72-157EB446EEB2}"/>
              </a:ext>
            </a:extLst>
          </p:cNvPr>
          <p:cNvSpPr>
            <a:spLocks xmlns:a="http://schemas.openxmlformats.org/drawingml/2006/main" noGrp="1"/>
          </p:cNvSpPr>
          <p:nvPr/>
        </p:nvSpPr>
        <p:spPr>
          <a:xfrm xmlns:a="http://schemas.openxmlformats.org/drawingml/2006/main">
            <a:off x="5886450" y="3143250"/>
            <a:ext cx="42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03</a:t>
            </a:r>
          </a:p>
        </p:txBody>
      </p:sp>
      <p:sp>
        <p:nvSpPr>
          <p:cNvPr id="16" name="">
            <a:extLst xmlns:a="http://schemas.openxmlformats.org/drawingml/2006/main">
              <a:ext uri="{FF2B5EF4-FFF2-40B4-BE49-F238E27FC236}">
                <a16:creationId xmlns:a16="http://schemas.microsoft.com/office/drawing/2014/main" id="{0293D802-2A30-4096-946C-2D8A4BF60BFF}"/>
              </a:ext>
            </a:extLst>
          </p:cNvPr>
          <p:cNvSpPr>
            <a:spLocks xmlns:a="http://schemas.openxmlformats.org/drawingml/2006/main" noGrp="1"/>
          </p:cNvSpPr>
          <p:nvPr/>
        </p:nvSpPr>
        <p:spPr>
          <a:xfrm xmlns:a="http://schemas.openxmlformats.org/drawingml/2006/main">
            <a:off x="5886450" y="3524250"/>
            <a:ext cx="1762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F27"/>
                </a:solidFill>
              </a:defRPr>
            </a:pPr>
            <a:r>
              <a:rPr sz="1725" b="1">
                <a:solidFill>
                  <a:srgbClr val="201F27"/>
                </a:solidFill>
              </a:rPr>
              <a:t>Unwind</a:t>
            </a:r>
          </a:p>
        </p:txBody>
      </p:sp>
      <p:sp>
        <p:nvSpPr>
          <p:cNvPr id="17" name="">
            <a:extLst xmlns:a="http://schemas.openxmlformats.org/drawingml/2006/main">
              <a:ext uri="{FF2B5EF4-FFF2-40B4-BE49-F238E27FC236}">
                <a16:creationId xmlns:a16="http://schemas.microsoft.com/office/drawing/2014/main" id="{66C76258-D8EC-41D6-9B95-45E0AE79DCA3}"/>
              </a:ext>
            </a:extLst>
          </p:cNvPr>
          <p:cNvSpPr>
            <a:spLocks xmlns:a="http://schemas.openxmlformats.org/drawingml/2006/main" noGrp="1"/>
          </p:cNvSpPr>
          <p:nvPr/>
        </p:nvSpPr>
        <p:spPr>
          <a:xfrm xmlns:a="http://schemas.openxmlformats.org/drawingml/2006/main">
            <a:off x="5886450" y="3962400"/>
            <a:ext cx="1762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Calming audio + warm drink prompt</a:t>
            </a:r>
          </a:p>
        </p:txBody>
      </p:sp>
      <p:sp>
        <p:nvSpPr>
          <p:cNvPr id="18" name="">
            <a:extLst xmlns:a="http://schemas.openxmlformats.org/drawingml/2006/main">
              <a:ext uri="{FF2B5EF4-FFF2-40B4-BE49-F238E27FC236}">
                <a16:creationId xmlns:a16="http://schemas.microsoft.com/office/drawing/2014/main" id="{C1AC4432-01D9-42DE-87D4-D1AF45AF9728}"/>
              </a:ext>
            </a:extLst>
          </p:cNvPr>
          <p:cNvSpPr>
            <a:spLocks xmlns:a="http://schemas.openxmlformats.org/drawingml/2006/main" noGrp="1"/>
          </p:cNvSpPr>
          <p:nvPr/>
        </p:nvSpPr>
        <p:spPr>
          <a:xfrm xmlns:a="http://schemas.openxmlformats.org/drawingml/2006/main">
            <a:off x="8210550" y="2952750"/>
            <a:ext cx="21907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7B4DFF"/>
            </a:solidFill>
            <a:prstDash val="solid"/>
          </a:ln>
        </p:spPr>
      </p:sp>
      <p:sp>
        <p:nvSpPr>
          <p:cNvPr id="19" name="">
            <a:extLst xmlns:a="http://schemas.openxmlformats.org/drawingml/2006/main">
              <a:ext uri="{FF2B5EF4-FFF2-40B4-BE49-F238E27FC236}">
                <a16:creationId xmlns:a16="http://schemas.microsoft.com/office/drawing/2014/main" id="{788A8188-3302-42FC-BBDA-3E9DE044D240}"/>
              </a:ext>
            </a:extLst>
          </p:cNvPr>
          <p:cNvSpPr>
            <a:spLocks xmlns:a="http://schemas.openxmlformats.org/drawingml/2006/main" noGrp="1"/>
          </p:cNvSpPr>
          <p:nvPr/>
        </p:nvSpPr>
        <p:spPr>
          <a:xfrm xmlns:a="http://schemas.openxmlformats.org/drawingml/2006/main">
            <a:off x="8420100" y="3143250"/>
            <a:ext cx="42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7B4DFF"/>
                </a:solidFill>
              </a:defRPr>
            </a:pPr>
            <a:r>
              <a:rPr sz="1350" b="1">
                <a:solidFill>
                  <a:srgbClr val="7B4DFF"/>
                </a:solidFill>
              </a:rPr>
              <a:t>04</a:t>
            </a:r>
          </a:p>
        </p:txBody>
      </p:sp>
      <p:sp>
        <p:nvSpPr>
          <p:cNvPr id="20" name="">
            <a:extLst xmlns:a="http://schemas.openxmlformats.org/drawingml/2006/main">
              <a:ext uri="{FF2B5EF4-FFF2-40B4-BE49-F238E27FC236}">
                <a16:creationId xmlns:a16="http://schemas.microsoft.com/office/drawing/2014/main" id="{6AFCD68E-B97D-4372-AFBF-6C91210C5320}"/>
              </a:ext>
            </a:extLst>
          </p:cNvPr>
          <p:cNvSpPr>
            <a:spLocks xmlns:a="http://schemas.openxmlformats.org/drawingml/2006/main" noGrp="1"/>
          </p:cNvSpPr>
          <p:nvPr/>
        </p:nvSpPr>
        <p:spPr>
          <a:xfrm xmlns:a="http://schemas.openxmlformats.org/drawingml/2006/main">
            <a:off x="8420100" y="3524250"/>
            <a:ext cx="1762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F27"/>
                </a:solidFill>
              </a:defRPr>
            </a:pPr>
            <a:r>
              <a:rPr sz="1725" b="1">
                <a:solidFill>
                  <a:srgbClr val="201F27"/>
                </a:solidFill>
              </a:rPr>
              <a:t>Finish</a:t>
            </a:r>
          </a:p>
        </p:txBody>
      </p:sp>
      <p:sp>
        <p:nvSpPr>
          <p:cNvPr id="21" name="">
            <a:extLst xmlns:a="http://schemas.openxmlformats.org/drawingml/2006/main">
              <a:ext uri="{FF2B5EF4-FFF2-40B4-BE49-F238E27FC236}">
                <a16:creationId xmlns:a16="http://schemas.microsoft.com/office/drawing/2014/main" id="{AD544140-6076-4629-9555-DBE663EC9472}"/>
              </a:ext>
            </a:extLst>
          </p:cNvPr>
          <p:cNvSpPr>
            <a:spLocks xmlns:a="http://schemas.openxmlformats.org/drawingml/2006/main" noGrp="1"/>
          </p:cNvSpPr>
          <p:nvPr/>
        </p:nvSpPr>
        <p:spPr>
          <a:xfrm xmlns:a="http://schemas.openxmlformats.org/drawingml/2006/main">
            <a:off x="8420100" y="3962400"/>
            <a:ext cx="1762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Quick check: did this help?</a:t>
            </a:r>
          </a:p>
        </p:txBody>
      </p:sp>
    </p:spTree>
    <p:extLst>
      <p:ext uri="{BB962C8B-B14F-4D97-AF65-F5344CB8AC3E}">
        <p14:creationId xmlns:p14="http://schemas.microsoft.com/office/powerpoint/2010/main" val="605545334"/>
      </p:ext>
    </p:extLst>
  </p:cSld>
</p:sld>
</file>

<file path=ppt/slides/slide5.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6AEB9B-511A-43B4-9C2C-283EBA9DFF76}"/>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08AFF496-7FAE-4B8A-90EE-3EE0F46E68FF}"/>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05</a:t>
            </a:r>
          </a:p>
        </p:txBody>
      </p:sp>
      <p:sp>
        <p:nvSpPr>
          <p:cNvPr id="3" name="">
            <a:extLst xmlns:a="http://schemas.openxmlformats.org/drawingml/2006/main">
              <a:ext uri="{FF2B5EF4-FFF2-40B4-BE49-F238E27FC236}">
                <a16:creationId xmlns:a16="http://schemas.microsoft.com/office/drawing/2014/main" id="{7069B7CA-BA5C-4164-A0C1-38BB61C8A302}"/>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43FD3D-F2AE-48FE-BB99-BE7CDC860A96}"/>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Digital guidance, supported by</a:t>
            </a:r>
          </a:p>
          <a:p xmlns:a="http://schemas.openxmlformats.org/drawingml/2006/main">
            <a:pPr algn="l">
              <a:defRPr sz="3450" b="1">
                <a:solidFill>
                  <a:srgbClr val="201F27"/>
                </a:solidFill>
              </a:defRPr>
            </a:pPr>
            <a:r>
              <a:rPr sz="3450" b="1">
                <a:solidFill>
                  <a:srgbClr val="201F27"/>
                </a:solidFill>
              </a:rPr>
              <a:t>physical products.</a:t>
            </a:r>
          </a:p>
        </p:txBody>
      </p:sp>
      <p:sp>
        <p:nvSpPr>
          <p:cNvPr id="5" name="">
            <a:extLst xmlns:a="http://schemas.openxmlformats.org/drawingml/2006/main">
              <a:ext uri="{FF2B5EF4-FFF2-40B4-BE49-F238E27FC236}">
                <a16:creationId xmlns:a16="http://schemas.microsoft.com/office/drawing/2014/main" id="{7E9A7ECC-5EA9-4290-B930-FF76E98331F0}"/>
              </a:ext>
            </a:extLst>
          </p:cNvPr>
          <p:cNvSpPr>
            <a:spLocks xmlns:a="http://schemas.openxmlformats.org/drawingml/2006/main" noGrp="1"/>
          </p:cNvSpPr>
          <p:nvPr/>
        </p:nvSpPr>
        <p:spPr>
          <a:xfrm xmlns:a="http://schemas.openxmlformats.org/drawingml/2006/main">
            <a:off x="609600" y="2857500"/>
            <a:ext cx="4762500" cy="1952625"/>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19050">
            <a:solidFill>
              <a:srgbClr val="7B4DFF"/>
            </a:solidFill>
            <a:prstDash val="solid"/>
          </a:ln>
        </p:spPr>
      </p:sp>
      <p:sp>
        <p:nvSpPr>
          <p:cNvPr id="6" name="">
            <a:extLst xmlns:a="http://schemas.openxmlformats.org/drawingml/2006/main">
              <a:ext uri="{FF2B5EF4-FFF2-40B4-BE49-F238E27FC236}">
                <a16:creationId xmlns:a16="http://schemas.microsoft.com/office/drawing/2014/main" id="{37264469-3880-4E81-B6A0-98E7F0767C2E}"/>
              </a:ext>
            </a:extLst>
          </p:cNvPr>
          <p:cNvSpPr>
            <a:spLocks xmlns:a="http://schemas.openxmlformats.org/drawingml/2006/main" noGrp="1"/>
          </p:cNvSpPr>
          <p:nvPr/>
        </p:nvSpPr>
        <p:spPr>
          <a:xfrm xmlns:a="http://schemas.openxmlformats.org/drawingml/2006/main">
            <a:off x="876300" y="314325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THE APP</a:t>
            </a:r>
          </a:p>
        </p:txBody>
      </p:sp>
      <p:sp>
        <p:nvSpPr>
          <p:cNvPr id="7" name="">
            <a:extLst xmlns:a="http://schemas.openxmlformats.org/drawingml/2006/main">
              <a:ext uri="{FF2B5EF4-FFF2-40B4-BE49-F238E27FC236}">
                <a16:creationId xmlns:a16="http://schemas.microsoft.com/office/drawing/2014/main" id="{3BD29992-5023-427E-94D3-23367FE98509}"/>
              </a:ext>
            </a:extLst>
          </p:cNvPr>
          <p:cNvSpPr>
            <a:spLocks xmlns:a="http://schemas.openxmlformats.org/drawingml/2006/main" noGrp="1"/>
          </p:cNvSpPr>
          <p:nvPr/>
        </p:nvSpPr>
        <p:spPr>
          <a:xfrm xmlns:a="http://schemas.openxmlformats.org/drawingml/2006/main">
            <a:off x="876300" y="3571875"/>
            <a:ext cx="3810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01F27"/>
                </a:solidFill>
              </a:defRPr>
            </a:pPr>
            <a:r>
              <a:rPr sz="2025" b="1">
                <a:solidFill>
                  <a:srgbClr val="201F27"/>
                </a:solidFill>
              </a:rPr>
              <a:t>Gives one ready-to-start ritual based on mood and available time.</a:t>
            </a:r>
          </a:p>
        </p:txBody>
      </p:sp>
      <p:sp>
        <p:nvSpPr>
          <p:cNvPr id="8" name="">
            <a:extLst xmlns:a="http://schemas.openxmlformats.org/drawingml/2006/main">
              <a:ext uri="{FF2B5EF4-FFF2-40B4-BE49-F238E27FC236}">
                <a16:creationId xmlns:a16="http://schemas.microsoft.com/office/drawing/2014/main" id="{62D2E208-82A1-499D-ABA3-BEB8D7FC27E5}"/>
              </a:ext>
            </a:extLst>
          </p:cNvPr>
          <p:cNvSpPr>
            <a:spLocks xmlns:a="http://schemas.openxmlformats.org/drawingml/2006/main" noGrp="1"/>
          </p:cNvSpPr>
          <p:nvPr/>
        </p:nvSpPr>
        <p:spPr>
          <a:xfrm xmlns:a="http://schemas.openxmlformats.org/drawingml/2006/main">
            <a:off x="6191250" y="2857500"/>
            <a:ext cx="4762500" cy="1952625"/>
          </a:xfrm>
          <a:prstGeom xmlns:a="http://schemas.openxmlformats.org/drawingml/2006/main" prst="roundRect">
            <a:avLst>
              <a:gd name="adj" fmla="val 5854"/>
            </a:avLst>
          </a:prstGeom>
          <a:solidFill xmlns:a="http://schemas.openxmlformats.org/drawingml/2006/main">
            <a:srgbClr val="DDF3E8"/>
          </a:solidFill>
          <a:ln xmlns:a="http://schemas.openxmlformats.org/drawingml/2006/main" w="19050">
            <a:solidFill>
              <a:srgbClr val="7B4DFF"/>
            </a:solidFill>
            <a:prstDash val="solid"/>
          </a:ln>
        </p:spPr>
      </p:sp>
      <p:sp>
        <p:nvSpPr>
          <p:cNvPr id="9" name="">
            <a:extLst xmlns:a="http://schemas.openxmlformats.org/drawingml/2006/main">
              <a:ext uri="{FF2B5EF4-FFF2-40B4-BE49-F238E27FC236}">
                <a16:creationId xmlns:a16="http://schemas.microsoft.com/office/drawing/2014/main" id="{0AC464DB-7FB6-407A-9D45-A3BF2F0D7B09}"/>
              </a:ext>
            </a:extLst>
          </p:cNvPr>
          <p:cNvSpPr>
            <a:spLocks xmlns:a="http://schemas.openxmlformats.org/drawingml/2006/main" noGrp="1"/>
          </p:cNvSpPr>
          <p:nvPr/>
        </p:nvSpPr>
        <p:spPr>
          <a:xfrm xmlns:a="http://schemas.openxmlformats.org/drawingml/2006/main">
            <a:off x="6457950" y="3143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THE PRODUCT KIT</a:t>
            </a:r>
          </a:p>
        </p:txBody>
      </p:sp>
      <p:sp>
        <p:nvSpPr>
          <p:cNvPr id="10" name="">
            <a:extLst xmlns:a="http://schemas.openxmlformats.org/drawingml/2006/main">
              <a:ext uri="{FF2B5EF4-FFF2-40B4-BE49-F238E27FC236}">
                <a16:creationId xmlns:a16="http://schemas.microsoft.com/office/drawing/2014/main" id="{9AF0165F-D8C7-416B-9309-458338B04543}"/>
              </a:ext>
            </a:extLst>
          </p:cNvPr>
          <p:cNvSpPr>
            <a:spLocks xmlns:a="http://schemas.openxmlformats.org/drawingml/2006/main" noGrp="1"/>
          </p:cNvSpPr>
          <p:nvPr/>
        </p:nvSpPr>
        <p:spPr>
          <a:xfrm xmlns:a="http://schemas.openxmlformats.org/drawingml/2006/main">
            <a:off x="6457950" y="3571875"/>
            <a:ext cx="400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01F27"/>
                </a:solidFill>
              </a:defRPr>
            </a:pPr>
            <a:r>
              <a:rPr sz="2025" b="1">
                <a:solidFill>
                  <a:srgbClr val="201F27"/>
                </a:solidFill>
              </a:rPr>
              <a:t>Optional products help make the ritual easier to repeat at home.</a:t>
            </a:r>
          </a:p>
        </p:txBody>
      </p:sp>
      <p:sp>
        <p:nvSpPr>
          <p:cNvPr id="11" name="">
            <a:extLst xmlns:a="http://schemas.openxmlformats.org/drawingml/2006/main">
              <a:ext uri="{FF2B5EF4-FFF2-40B4-BE49-F238E27FC236}">
                <a16:creationId xmlns:a16="http://schemas.microsoft.com/office/drawing/2014/main" id="{C2C993BC-0EC6-4E1C-9EF3-8171AC062F58}"/>
              </a:ext>
            </a:extLst>
          </p:cNvPr>
          <p:cNvSpPr>
            <a:spLocks xmlns:a="http://schemas.openxmlformats.org/drawingml/2006/main" noGrp="1"/>
          </p:cNvSpPr>
          <p:nvPr/>
        </p:nvSpPr>
        <p:spPr>
          <a:xfrm xmlns:a="http://schemas.openxmlformats.org/drawingml/2006/main">
            <a:off x="609600" y="54292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86575"/>
                </a:solidFill>
              </a:defRPr>
            </a:pPr>
            <a:r>
              <a:rPr sz="1425" b="0">
                <a:solidFill>
                  <a:srgbClr val="686575"/>
                </a:solidFill>
              </a:rPr>
              <a:t>Examples: tea · eye mask · magnesium spray · bath salts · shower steamers</a:t>
            </a:r>
          </a:p>
        </p:txBody>
      </p:sp>
    </p:spTree>
    <p:extLst>
      <p:ext uri="{BB962C8B-B14F-4D97-AF65-F5344CB8AC3E}">
        <p14:creationId xmlns:p14="http://schemas.microsoft.com/office/powerpoint/2010/main" val="534575579"/>
      </p:ext>
    </p:extLst>
  </p:cSld>
</p:sld>
</file>

<file path=ppt/slides/slide6.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7A58CC-C5F6-403E-A113-60E8D3B21FA8}"/>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66077C57-C8D1-4108-9FE0-F367FC814BC8}"/>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06</a:t>
            </a:r>
          </a:p>
        </p:txBody>
      </p:sp>
      <p:sp>
        <p:nvSpPr>
          <p:cNvPr id="3" name="">
            <a:extLst xmlns:a="http://schemas.openxmlformats.org/drawingml/2006/main">
              <a:ext uri="{FF2B5EF4-FFF2-40B4-BE49-F238E27FC236}">
                <a16:creationId xmlns:a16="http://schemas.microsoft.com/office/drawing/2014/main" id="{C79C5ACE-8A9D-4447-B577-BCDBADCCECFF}"/>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D9878A-AA2A-4E8E-83DA-443B742F890B}"/>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Our research tests whether</a:t>
            </a:r>
          </a:p>
          <a:p xmlns:a="http://schemas.openxmlformats.org/drawingml/2006/main">
            <a:pPr algn="l">
              <a:defRPr sz="3450" b="1">
                <a:solidFill>
                  <a:srgbClr val="201F27"/>
                </a:solidFill>
              </a:defRPr>
            </a:pPr>
            <a:r>
              <a:rPr sz="3450" b="1">
                <a:solidFill>
                  <a:srgbClr val="201F27"/>
                </a:solidFill>
              </a:rPr>
              <a:t>this solves a real problem.</a:t>
            </a:r>
          </a:p>
        </p:txBody>
      </p:sp>
      <p:sp>
        <p:nvSpPr>
          <p:cNvPr id="5" name="">
            <a:extLst xmlns:a="http://schemas.openxmlformats.org/drawingml/2006/main">
              <a:ext uri="{FF2B5EF4-FFF2-40B4-BE49-F238E27FC236}">
                <a16:creationId xmlns:a16="http://schemas.microsoft.com/office/drawing/2014/main" id="{1E1F876A-FC90-480C-BC7A-1FED44910882}"/>
              </a:ext>
            </a:extLst>
          </p:cNvPr>
          <p:cNvSpPr>
            <a:spLocks xmlns:a="http://schemas.openxmlformats.org/drawingml/2006/main" noGrp="1"/>
          </p:cNvSpPr>
          <p:nvPr/>
        </p:nvSpPr>
        <p:spPr>
          <a:xfrm xmlns:a="http://schemas.openxmlformats.org/drawingml/2006/main">
            <a:off x="609600" y="2952750"/>
            <a:ext cx="4762500" cy="2076450"/>
          </a:xfrm>
          <a:prstGeom xmlns:a="http://schemas.openxmlformats.org/drawingml/2006/main" prst="roundRect">
            <a:avLst>
              <a:gd name="adj" fmla="val 5505"/>
            </a:avLst>
          </a:prstGeom>
          <a:solidFill xmlns:a="http://schemas.openxmlformats.org/drawingml/2006/main">
            <a:srgbClr val="DCCDF8"/>
          </a:solidFill>
          <a:ln xmlns:a="http://schemas.openxmlformats.org/drawingml/2006/main" w="19050">
            <a:solidFill>
              <a:srgbClr val="7B4DFF"/>
            </a:solidFill>
            <a:prstDash val="solid"/>
          </a:ln>
        </p:spPr>
      </p:sp>
      <p:sp>
        <p:nvSpPr>
          <p:cNvPr id="6" name="">
            <a:extLst xmlns:a="http://schemas.openxmlformats.org/drawingml/2006/main">
              <a:ext uri="{FF2B5EF4-FFF2-40B4-BE49-F238E27FC236}">
                <a16:creationId xmlns:a16="http://schemas.microsoft.com/office/drawing/2014/main" id="{6306D42B-770A-4494-992E-585F8D8484E7}"/>
              </a:ext>
            </a:extLst>
          </p:cNvPr>
          <p:cNvSpPr>
            <a:spLocks xmlns:a="http://schemas.openxmlformats.org/drawingml/2006/main" noGrp="1"/>
          </p:cNvSpPr>
          <p:nvPr/>
        </p:nvSpPr>
        <p:spPr>
          <a:xfrm xmlns:a="http://schemas.openxmlformats.org/drawingml/2006/main">
            <a:off x="876300" y="32194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METHOD</a:t>
            </a:r>
          </a:p>
        </p:txBody>
      </p:sp>
      <p:sp>
        <p:nvSpPr>
          <p:cNvPr id="7" name="">
            <a:extLst xmlns:a="http://schemas.openxmlformats.org/drawingml/2006/main">
              <a:ext uri="{FF2B5EF4-FFF2-40B4-BE49-F238E27FC236}">
                <a16:creationId xmlns:a16="http://schemas.microsoft.com/office/drawing/2014/main" id="{07AC52E4-599E-4C5C-917A-603F33FC2C3F}"/>
              </a:ext>
            </a:extLst>
          </p:cNvPr>
          <p:cNvSpPr>
            <a:spLocks xmlns:a="http://schemas.openxmlformats.org/drawingml/2006/main" noGrp="1"/>
          </p:cNvSpPr>
          <p:nvPr/>
        </p:nvSpPr>
        <p:spPr>
          <a:xfrm xmlns:a="http://schemas.openxmlformats.org/drawingml/2006/main">
            <a:off x="876300" y="36195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01F27"/>
                </a:solidFill>
              </a:defRPr>
            </a:pPr>
            <a:r>
              <a:rPr sz="2550" b="1">
                <a:solidFill>
                  <a:srgbClr val="201F27"/>
                </a:solidFill>
              </a:rPr>
              <a:t>Short survey</a:t>
            </a:r>
          </a:p>
          <a:p xmlns:a="http://schemas.openxmlformats.org/drawingml/2006/main">
            <a:pPr algn="l">
              <a:defRPr sz="2550" b="1">
                <a:solidFill>
                  <a:srgbClr val="201F27"/>
                </a:solidFill>
              </a:defRPr>
            </a:pPr>
            <a:r>
              <a:rPr sz="2550" b="1">
                <a:solidFill>
                  <a:srgbClr val="201F27"/>
                </a:solidFill>
              </a:rPr>
              <a:t>+ 5–8 interviews</a:t>
            </a:r>
          </a:p>
        </p:txBody>
      </p:sp>
      <p:sp>
        <p:nvSpPr>
          <p:cNvPr id="8" name="">
            <a:extLst xmlns:a="http://schemas.openxmlformats.org/drawingml/2006/main">
              <a:ext uri="{FF2B5EF4-FFF2-40B4-BE49-F238E27FC236}">
                <a16:creationId xmlns:a16="http://schemas.microsoft.com/office/drawing/2014/main" id="{1648749C-A567-405E-AAC1-1369630BE342}"/>
              </a:ext>
            </a:extLst>
          </p:cNvPr>
          <p:cNvSpPr>
            <a:spLocks xmlns:a="http://schemas.openxmlformats.org/drawingml/2006/main" noGrp="1"/>
          </p:cNvSpPr>
          <p:nvPr/>
        </p:nvSpPr>
        <p:spPr>
          <a:xfrm xmlns:a="http://schemas.openxmlformats.org/drawingml/2006/main">
            <a:off x="6191250" y="2952750"/>
            <a:ext cx="4762500" cy="207645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9050">
            <a:solidFill>
              <a:srgbClr val="7B4DFF"/>
            </a:solidFill>
            <a:prstDash val="solid"/>
          </a:ln>
        </p:spPr>
      </p:sp>
      <p:sp>
        <p:nvSpPr>
          <p:cNvPr id="9" name="">
            <a:extLst xmlns:a="http://schemas.openxmlformats.org/drawingml/2006/main">
              <a:ext uri="{FF2B5EF4-FFF2-40B4-BE49-F238E27FC236}">
                <a16:creationId xmlns:a16="http://schemas.microsoft.com/office/drawing/2014/main" id="{20F899C8-34A8-4B5A-A162-2844B6A60DE0}"/>
              </a:ext>
            </a:extLst>
          </p:cNvPr>
          <p:cNvSpPr>
            <a:spLocks xmlns:a="http://schemas.openxmlformats.org/drawingml/2006/main" noGrp="1"/>
          </p:cNvSpPr>
          <p:nvPr/>
        </p:nvSpPr>
        <p:spPr>
          <a:xfrm xmlns:a="http://schemas.openxmlformats.org/drawingml/2006/main">
            <a:off x="6457950" y="321945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WHAT WE WANT TO LEARN</a:t>
            </a:r>
          </a:p>
        </p:txBody>
      </p:sp>
      <p:sp>
        <p:nvSpPr>
          <p:cNvPr id="10" name="">
            <a:extLst xmlns:a="http://schemas.openxmlformats.org/drawingml/2006/main">
              <a:ext uri="{FF2B5EF4-FFF2-40B4-BE49-F238E27FC236}">
                <a16:creationId xmlns:a16="http://schemas.microsoft.com/office/drawing/2014/main" id="{8E0E3DE6-6B10-409D-9444-CEDE4109384C}"/>
              </a:ext>
            </a:extLst>
          </p:cNvPr>
          <p:cNvSpPr>
            <a:spLocks xmlns:a="http://schemas.openxmlformats.org/drawingml/2006/main" noGrp="1"/>
          </p:cNvSpPr>
          <p:nvPr/>
        </p:nvSpPr>
        <p:spPr>
          <a:xfrm xmlns:a="http://schemas.openxmlformats.org/drawingml/2006/main">
            <a:off x="6457950" y="3733800"/>
            <a:ext cx="95250" cy="95250"/>
          </a:xfrm>
          <a:prstGeom xmlns:a="http://schemas.openxmlformats.org/drawingml/2006/main" prst="roundRect">
            <a:avLst>
              <a:gd name="adj" fmla="val 50000"/>
            </a:avLst>
          </a:prstGeom>
          <a:solidFill xmlns:a="http://schemas.openxmlformats.org/drawingml/2006/main">
            <a:srgbClr val="7B4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D034367-D691-4D01-A76E-C9FFDCF1F61D}"/>
              </a:ext>
            </a:extLst>
          </p:cNvPr>
          <p:cNvSpPr>
            <a:spLocks xmlns:a="http://schemas.openxmlformats.org/drawingml/2006/main" noGrp="1"/>
          </p:cNvSpPr>
          <p:nvPr/>
        </p:nvSpPr>
        <p:spPr>
          <a:xfrm xmlns:a="http://schemas.openxmlformats.org/drawingml/2006/main">
            <a:off x="6686550" y="3638550"/>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F27"/>
                </a:solidFill>
              </a:defRPr>
            </a:pPr>
            <a:r>
              <a:rPr sz="1500" b="0">
                <a:solidFill>
                  <a:srgbClr val="201F27"/>
                </a:solidFill>
              </a:rPr>
              <a:t>How people recover after work</a:t>
            </a:r>
          </a:p>
        </p:txBody>
      </p:sp>
      <p:sp>
        <p:nvSpPr>
          <p:cNvPr id="12" name="">
            <a:extLst xmlns:a="http://schemas.openxmlformats.org/drawingml/2006/main">
              <a:ext uri="{FF2B5EF4-FFF2-40B4-BE49-F238E27FC236}">
                <a16:creationId xmlns:a16="http://schemas.microsoft.com/office/drawing/2014/main" id="{908BD6A8-08DA-4F1C-90D4-2A6835956069}"/>
              </a:ext>
            </a:extLst>
          </p:cNvPr>
          <p:cNvSpPr>
            <a:spLocks xmlns:a="http://schemas.openxmlformats.org/drawingml/2006/main" noGrp="1"/>
          </p:cNvSpPr>
          <p:nvPr/>
        </p:nvSpPr>
        <p:spPr>
          <a:xfrm xmlns:a="http://schemas.openxmlformats.org/drawingml/2006/main">
            <a:off x="6457950" y="4162425"/>
            <a:ext cx="95250" cy="95250"/>
          </a:xfrm>
          <a:prstGeom xmlns:a="http://schemas.openxmlformats.org/drawingml/2006/main" prst="roundRect">
            <a:avLst>
              <a:gd name="adj" fmla="val 50000"/>
            </a:avLst>
          </a:prstGeom>
          <a:solidFill xmlns:a="http://schemas.openxmlformats.org/drawingml/2006/main">
            <a:srgbClr val="7B4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7614A4-766C-4D54-BB9B-4A35A2D88E59}"/>
              </a:ext>
            </a:extLst>
          </p:cNvPr>
          <p:cNvSpPr>
            <a:spLocks xmlns:a="http://schemas.openxmlformats.org/drawingml/2006/main" noGrp="1"/>
          </p:cNvSpPr>
          <p:nvPr/>
        </p:nvSpPr>
        <p:spPr>
          <a:xfrm xmlns:a="http://schemas.openxmlformats.org/drawingml/2006/main">
            <a:off x="6686550" y="4067175"/>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F27"/>
                </a:solidFill>
              </a:defRPr>
            </a:pPr>
            <a:r>
              <a:rPr sz="1500" b="0">
                <a:solidFill>
                  <a:srgbClr val="201F27"/>
                </a:solidFill>
              </a:rPr>
              <a:t>What stops them from doing it</a:t>
            </a:r>
          </a:p>
        </p:txBody>
      </p:sp>
      <p:sp>
        <p:nvSpPr>
          <p:cNvPr id="14" name="">
            <a:extLst xmlns:a="http://schemas.openxmlformats.org/drawingml/2006/main">
              <a:ext uri="{FF2B5EF4-FFF2-40B4-BE49-F238E27FC236}">
                <a16:creationId xmlns:a16="http://schemas.microsoft.com/office/drawing/2014/main" id="{9F750FA5-F2B1-433E-A47B-2E54D7738B5D}"/>
              </a:ext>
            </a:extLst>
          </p:cNvPr>
          <p:cNvSpPr>
            <a:spLocks xmlns:a="http://schemas.openxmlformats.org/drawingml/2006/main" noGrp="1"/>
          </p:cNvSpPr>
          <p:nvPr/>
        </p:nvSpPr>
        <p:spPr>
          <a:xfrm xmlns:a="http://schemas.openxmlformats.org/drawingml/2006/main">
            <a:off x="6457950" y="4591050"/>
            <a:ext cx="95250" cy="95250"/>
          </a:xfrm>
          <a:prstGeom xmlns:a="http://schemas.openxmlformats.org/drawingml/2006/main" prst="roundRect">
            <a:avLst>
              <a:gd name="adj" fmla="val 50000"/>
            </a:avLst>
          </a:prstGeom>
          <a:solidFill xmlns:a="http://schemas.openxmlformats.org/drawingml/2006/main">
            <a:srgbClr val="7B4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5AD1E27-294F-42D0-8007-971EC3DBE804}"/>
              </a:ext>
            </a:extLst>
          </p:cNvPr>
          <p:cNvSpPr>
            <a:spLocks xmlns:a="http://schemas.openxmlformats.org/drawingml/2006/main" noGrp="1"/>
          </p:cNvSpPr>
          <p:nvPr/>
        </p:nvSpPr>
        <p:spPr>
          <a:xfrm xmlns:a="http://schemas.openxmlformats.org/drawingml/2006/main">
            <a:off x="6686550" y="4495800"/>
            <a:ext cx="3962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F27"/>
                </a:solidFill>
              </a:defRPr>
            </a:pPr>
            <a:r>
              <a:rPr sz="1500" b="0">
                <a:solidFill>
                  <a:srgbClr val="201F27"/>
                </a:solidFill>
              </a:rPr>
              <a:t>Whether decision fatigue is the barrier</a:t>
            </a:r>
          </a:p>
        </p:txBody>
      </p:sp>
    </p:spTree>
    <p:extLst>
      <p:ext uri="{BB962C8B-B14F-4D97-AF65-F5344CB8AC3E}">
        <p14:creationId xmlns:p14="http://schemas.microsoft.com/office/powerpoint/2010/main" val="1940007055"/>
      </p:ext>
    </p:extLst>
  </p:cSld>
</p:sld>
</file>

<file path=ppt/slides/slide7.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334583-1F54-4600-881E-A50348D3FF62}"/>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161E7C9B-2EE2-4561-902A-69ACEC940408}"/>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07</a:t>
            </a:r>
          </a:p>
        </p:txBody>
      </p:sp>
      <p:sp>
        <p:nvSpPr>
          <p:cNvPr id="3" name="">
            <a:extLst xmlns:a="http://schemas.openxmlformats.org/drawingml/2006/main">
              <a:ext uri="{FF2B5EF4-FFF2-40B4-BE49-F238E27FC236}">
                <a16:creationId xmlns:a16="http://schemas.microsoft.com/office/drawing/2014/main" id="{6443A09D-FEAC-4F9E-AD0C-FD15E76AE5EC}"/>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4FB54E-047E-4465-838E-EA7C641584BC}"/>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First insight: more content</a:t>
            </a:r>
          </a:p>
          <a:p xmlns:a="http://schemas.openxmlformats.org/drawingml/2006/main">
            <a:pPr algn="l">
              <a:defRPr sz="3450" b="1">
                <a:solidFill>
                  <a:srgbClr val="201F27"/>
                </a:solidFill>
              </a:defRPr>
            </a:pPr>
            <a:r>
              <a:rPr sz="3450" b="1">
                <a:solidFill>
                  <a:srgbClr val="201F27"/>
                </a:solidFill>
              </a:rPr>
              <a:t>does not always mean easier recovery.</a:t>
            </a:r>
          </a:p>
        </p:txBody>
      </p:sp>
      <p:sp>
        <p:nvSpPr>
          <p:cNvPr id="5" name="">
            <a:extLst xmlns:a="http://schemas.openxmlformats.org/drawingml/2006/main">
              <a:ext uri="{FF2B5EF4-FFF2-40B4-BE49-F238E27FC236}">
                <a16:creationId xmlns:a16="http://schemas.microsoft.com/office/drawing/2014/main" id="{9AC354C1-6CFF-43D7-9E39-1D73B8BD02FF}"/>
              </a:ext>
            </a:extLst>
          </p:cNvPr>
          <p:cNvSpPr>
            <a:spLocks xmlns:a="http://schemas.openxmlformats.org/drawingml/2006/main" noGrp="1"/>
          </p:cNvSpPr>
          <p:nvPr/>
        </p:nvSpPr>
        <p:spPr>
          <a:xfrm xmlns:a="http://schemas.openxmlformats.org/drawingml/2006/main">
            <a:off x="609600" y="2857500"/>
            <a:ext cx="5048250" cy="2000250"/>
          </a:xfrm>
          <a:prstGeom xmlns:a="http://schemas.openxmlformats.org/drawingml/2006/main" prst="roundRect">
            <a:avLst>
              <a:gd name="adj" fmla="val 5714"/>
            </a:avLst>
          </a:prstGeom>
          <a:solidFill xmlns:a="http://schemas.openxmlformats.org/drawingml/2006/main">
            <a:srgbClr val="DCCDF8"/>
          </a:solidFill>
          <a:ln xmlns:a="http://schemas.openxmlformats.org/drawingml/2006/main" w="19050">
            <a:solidFill>
              <a:srgbClr val="7B4DFF"/>
            </a:solidFill>
            <a:prstDash val="solid"/>
          </a:ln>
        </p:spPr>
      </p:sp>
      <p:sp>
        <p:nvSpPr>
          <p:cNvPr id="6" name="">
            <a:extLst xmlns:a="http://schemas.openxmlformats.org/drawingml/2006/main">
              <a:ext uri="{FF2B5EF4-FFF2-40B4-BE49-F238E27FC236}">
                <a16:creationId xmlns:a16="http://schemas.microsoft.com/office/drawing/2014/main" id="{FA22F68C-FA83-46DF-86CA-7A80B40BA67F}"/>
              </a:ext>
            </a:extLst>
          </p:cNvPr>
          <p:cNvSpPr>
            <a:spLocks xmlns:a="http://schemas.openxmlformats.org/drawingml/2006/main" noGrp="1"/>
          </p:cNvSpPr>
          <p:nvPr/>
        </p:nvSpPr>
        <p:spPr>
          <a:xfrm xmlns:a="http://schemas.openxmlformats.org/drawingml/2006/main">
            <a:off x="876300" y="31432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HYPOTHESIS</a:t>
            </a:r>
          </a:p>
        </p:txBody>
      </p:sp>
      <p:sp>
        <p:nvSpPr>
          <p:cNvPr id="7" name="">
            <a:extLst xmlns:a="http://schemas.openxmlformats.org/drawingml/2006/main">
              <a:ext uri="{FF2B5EF4-FFF2-40B4-BE49-F238E27FC236}">
                <a16:creationId xmlns:a16="http://schemas.microsoft.com/office/drawing/2014/main" id="{19D764C7-D9EA-4395-AA0E-4A167EFE920E}"/>
              </a:ext>
            </a:extLst>
          </p:cNvPr>
          <p:cNvSpPr>
            <a:spLocks xmlns:a="http://schemas.openxmlformats.org/drawingml/2006/main" noGrp="1"/>
          </p:cNvSpPr>
          <p:nvPr/>
        </p:nvSpPr>
        <p:spPr>
          <a:xfrm xmlns:a="http://schemas.openxmlformats.org/drawingml/2006/main">
            <a:off x="876300" y="3552825"/>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01F27"/>
                </a:solidFill>
              </a:defRPr>
            </a:pPr>
            <a:r>
              <a:rPr sz="2025" b="1">
                <a:solidFill>
                  <a:srgbClr val="201F27"/>
                </a:solidFill>
              </a:rPr>
              <a:t>People will use a short, ready-made ritual because it removes the need to plan or decide.</a:t>
            </a:r>
          </a:p>
        </p:txBody>
      </p:sp>
      <p:sp>
        <p:nvSpPr>
          <p:cNvPr id="8" name="">
            <a:extLst xmlns:a="http://schemas.openxmlformats.org/drawingml/2006/main">
              <a:ext uri="{FF2B5EF4-FFF2-40B4-BE49-F238E27FC236}">
                <a16:creationId xmlns:a16="http://schemas.microsoft.com/office/drawing/2014/main" id="{7FE700B8-4B74-44C6-B298-A6D7F556A8F8}"/>
              </a:ext>
            </a:extLst>
          </p:cNvPr>
          <p:cNvSpPr>
            <a:spLocks xmlns:a="http://schemas.openxmlformats.org/drawingml/2006/main" noGrp="1"/>
          </p:cNvSpPr>
          <p:nvPr/>
        </p:nvSpPr>
        <p:spPr>
          <a:xfrm xmlns:a="http://schemas.openxmlformats.org/drawingml/2006/main">
            <a:off x="6248400" y="2857500"/>
            <a:ext cx="47244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7B4DFF"/>
            </a:solidFill>
            <a:prstDash val="solid"/>
          </a:ln>
        </p:spPr>
      </p:sp>
      <p:sp>
        <p:nvSpPr>
          <p:cNvPr id="9" name="">
            <a:extLst xmlns:a="http://schemas.openxmlformats.org/drawingml/2006/main">
              <a:ext uri="{FF2B5EF4-FFF2-40B4-BE49-F238E27FC236}">
                <a16:creationId xmlns:a16="http://schemas.microsoft.com/office/drawing/2014/main" id="{689FAB73-C7A4-475D-85C3-E325DCBF2E9C}"/>
              </a:ext>
            </a:extLst>
          </p:cNvPr>
          <p:cNvSpPr>
            <a:spLocks xmlns:a="http://schemas.openxmlformats.org/drawingml/2006/main" noGrp="1"/>
          </p:cNvSpPr>
          <p:nvPr/>
        </p:nvSpPr>
        <p:spPr>
          <a:xfrm xmlns:a="http://schemas.openxmlformats.org/drawingml/2006/main">
            <a:off x="6515100" y="31432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FIRST DESK-RESEARCH INSIGHT</a:t>
            </a:r>
          </a:p>
        </p:txBody>
      </p:sp>
      <p:sp>
        <p:nvSpPr>
          <p:cNvPr id="10" name="">
            <a:extLst xmlns:a="http://schemas.openxmlformats.org/drawingml/2006/main">
              <a:ext uri="{FF2B5EF4-FFF2-40B4-BE49-F238E27FC236}">
                <a16:creationId xmlns:a16="http://schemas.microsoft.com/office/drawing/2014/main" id="{1CC1FF84-8354-4923-8241-0AF2F036FA28}"/>
              </a:ext>
            </a:extLst>
          </p:cNvPr>
          <p:cNvSpPr>
            <a:spLocks xmlns:a="http://schemas.openxmlformats.org/drawingml/2006/main" noGrp="1"/>
          </p:cNvSpPr>
          <p:nvPr/>
        </p:nvSpPr>
        <p:spPr>
          <a:xfrm xmlns:a="http://schemas.openxmlformats.org/drawingml/2006/main">
            <a:off x="6515100" y="3552825"/>
            <a:ext cx="3857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F27"/>
                </a:solidFill>
              </a:defRPr>
            </a:pPr>
            <a:r>
              <a:rPr sz="1875" b="1">
                <a:solidFill>
                  <a:srgbClr val="201F27"/>
                </a:solidFill>
              </a:rPr>
              <a:t>Existing wellness apps offer many choices; public feedback shows that this can feel overwhelming or like homework.</a:t>
            </a:r>
          </a:p>
        </p:txBody>
      </p:sp>
    </p:spTree>
    <p:extLst>
      <p:ext uri="{BB962C8B-B14F-4D97-AF65-F5344CB8AC3E}">
        <p14:creationId xmlns:p14="http://schemas.microsoft.com/office/powerpoint/2010/main" val="1209404744"/>
      </p:ext>
    </p:extLst>
  </p:cSld>
</p:sld>
</file>

<file path=ppt/slides/slide8.xml><?xml version="1.0" encoding="utf-8"?>
<p:sld xmlns:p="http://schemas.openxmlformats.org/presentationml/2006/main">
  <p:cSld>
    <p:bg>
      <p:bgPr>
        <a:solidFill xmlns:a="http://schemas.openxmlformats.org/drawingml/2006/main">
          <a:srgbClr val="FBF8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C40665B-0F44-47DB-8B66-F669DE2B6255}"/>
              </a:ext>
            </a:extLst>
          </p:cNvPr>
          <p:cNvSpPr>
            <a:spLocks xmlns:a="http://schemas.openxmlformats.org/drawingml/2006/main" noGrp="1"/>
          </p:cNvSpPr>
          <p:nvPr/>
        </p:nvSpPr>
        <p:spPr>
          <a:xfrm xmlns:a="http://schemas.openxmlformats.org/drawingml/2006/main">
            <a:off x="609600" y="3333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B4DFF"/>
                </a:solidFill>
              </a:defRPr>
            </a:pPr>
            <a:r>
              <a:rPr sz="1050" b="1">
                <a:solidFill>
                  <a:srgbClr val="7B4DFF"/>
                </a:solidFill>
              </a:rPr>
              <a:t>MILESTONE II</a:t>
            </a:r>
          </a:p>
        </p:txBody>
      </p:sp>
      <p:sp>
        <p:nvSpPr>
          <p:cNvPr id="2" name="">
            <a:extLst xmlns:a="http://schemas.openxmlformats.org/drawingml/2006/main">
              <a:ext uri="{FF2B5EF4-FFF2-40B4-BE49-F238E27FC236}">
                <a16:creationId xmlns:a16="http://schemas.microsoft.com/office/drawing/2014/main" id="{69E15DE9-1E20-4C02-BE35-7AD54F26BA38}"/>
              </a:ext>
            </a:extLst>
          </p:cNvPr>
          <p:cNvSpPr>
            <a:spLocks xmlns:a="http://schemas.openxmlformats.org/drawingml/2006/main" noGrp="1"/>
          </p:cNvSpPr>
          <p:nvPr/>
        </p:nvSpPr>
        <p:spPr>
          <a:xfrm xmlns:a="http://schemas.openxmlformats.org/drawingml/2006/main">
            <a:off x="10953750" y="3333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6575"/>
                </a:solidFill>
              </a:defRPr>
            </a:pPr>
            <a:r>
              <a:rPr sz="1050" b="1">
                <a:solidFill>
                  <a:srgbClr val="686575"/>
                </a:solidFill>
              </a:rPr>
              <a:t>08</a:t>
            </a:r>
          </a:p>
        </p:txBody>
      </p:sp>
      <p:sp>
        <p:nvSpPr>
          <p:cNvPr id="3" name="">
            <a:extLst xmlns:a="http://schemas.openxmlformats.org/drawingml/2006/main">
              <a:ext uri="{FF2B5EF4-FFF2-40B4-BE49-F238E27FC236}">
                <a16:creationId xmlns:a16="http://schemas.microsoft.com/office/drawing/2014/main" id="{2BD5AD28-4B94-4E77-B795-770C41FA2974}"/>
              </a:ext>
            </a:extLst>
          </p:cNvPr>
          <p:cNvSpPr>
            <a:spLocks xmlns:a="http://schemas.openxmlformats.org/drawingml/2006/main" noGrp="1"/>
          </p:cNvSpPr>
          <p:nvPr/>
        </p:nvSpPr>
        <p:spPr>
          <a:xfrm xmlns:a="http://schemas.openxmlformats.org/drawingml/2006/main">
            <a:off x="609600" y="666750"/>
            <a:ext cx="10972800" cy="19050"/>
          </a:xfrm>
          <a:prstGeom xmlns:a="http://schemas.openxmlformats.org/drawingml/2006/main" prst="rect">
            <a:avLst/>
          </a:prstGeom>
          <a:solidFill xmlns:a="http://schemas.openxmlformats.org/drawingml/2006/main">
            <a:srgbClr val="7B4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F9AF38-7579-4403-A6C1-F65179DA9019}"/>
              </a:ext>
            </a:extLst>
          </p:cNvPr>
          <p:cNvSpPr>
            <a:spLocks xmlns:a="http://schemas.openxmlformats.org/drawingml/2006/main" noGrp="1"/>
          </p:cNvSpPr>
          <p:nvPr/>
        </p:nvSpPr>
        <p:spPr>
          <a:xfrm xmlns:a="http://schemas.openxmlformats.org/drawingml/2006/main">
            <a:off x="609600" y="9525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201F27"/>
                </a:solidFill>
              </a:defRPr>
            </a:pPr>
            <a:r>
              <a:rPr sz="3450" b="1">
                <a:solidFill>
                  <a:srgbClr val="201F27"/>
                </a:solidFill>
              </a:rPr>
              <a:t>Next: turn early evidence</a:t>
            </a:r>
          </a:p>
          <a:p xmlns:a="http://schemas.openxmlformats.org/drawingml/2006/main">
            <a:pPr algn="l">
              <a:defRPr sz="3450" b="1">
                <a:solidFill>
                  <a:srgbClr val="201F27"/>
                </a:solidFill>
              </a:defRPr>
            </a:pPr>
            <a:r>
              <a:rPr sz="3450" b="1">
                <a:solidFill>
                  <a:srgbClr val="201F27"/>
                </a:solidFill>
              </a:rPr>
              <a:t>into a tested MVP.</a:t>
            </a:r>
          </a:p>
        </p:txBody>
      </p:sp>
      <p:sp>
        <p:nvSpPr>
          <p:cNvPr id="5" name="">
            <a:extLst xmlns:a="http://schemas.openxmlformats.org/drawingml/2006/main">
              <a:ext uri="{FF2B5EF4-FFF2-40B4-BE49-F238E27FC236}">
                <a16:creationId xmlns:a16="http://schemas.microsoft.com/office/drawing/2014/main" id="{C9495335-B451-479E-8EC0-7EF6194EFA95}"/>
              </a:ext>
            </a:extLst>
          </p:cNvPr>
          <p:cNvSpPr>
            <a:spLocks xmlns:a="http://schemas.openxmlformats.org/drawingml/2006/main" noGrp="1"/>
          </p:cNvSpPr>
          <p:nvPr/>
        </p:nvSpPr>
        <p:spPr>
          <a:xfrm xmlns:a="http://schemas.openxmlformats.org/drawingml/2006/main">
            <a:off x="609600" y="3143250"/>
            <a:ext cx="2095500" cy="1428750"/>
          </a:xfrm>
          <a:prstGeom xmlns:a="http://schemas.openxmlformats.org/drawingml/2006/main" prst="roundRect">
            <a:avLst>
              <a:gd name="adj" fmla="val 8000"/>
            </a:avLst>
          </a:prstGeom>
          <a:solidFill xmlns:a="http://schemas.openxmlformats.org/drawingml/2006/main">
            <a:srgbClr val="DCCDF8"/>
          </a:solidFill>
          <a:ln xmlns:a="http://schemas.openxmlformats.org/drawingml/2006/main" w="19050">
            <a:solidFill>
              <a:srgbClr val="7B4DFF"/>
            </a:solidFill>
            <a:prstDash val="solid"/>
          </a:ln>
        </p:spPr>
      </p:sp>
      <p:sp>
        <p:nvSpPr>
          <p:cNvPr id="6" name="">
            <a:extLst xmlns:a="http://schemas.openxmlformats.org/drawingml/2006/main">
              <a:ext uri="{FF2B5EF4-FFF2-40B4-BE49-F238E27FC236}">
                <a16:creationId xmlns:a16="http://schemas.microsoft.com/office/drawing/2014/main" id="{66B232AC-73EC-4112-817B-3EA353985376}"/>
              </a:ext>
            </a:extLst>
          </p:cNvPr>
          <p:cNvSpPr>
            <a:spLocks xmlns:a="http://schemas.openxmlformats.org/drawingml/2006/main" noGrp="1"/>
          </p:cNvSpPr>
          <p:nvPr/>
        </p:nvSpPr>
        <p:spPr>
          <a:xfrm xmlns:a="http://schemas.openxmlformats.org/drawingml/2006/main">
            <a:off x="819150" y="3333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01</a:t>
            </a:r>
          </a:p>
        </p:txBody>
      </p:sp>
      <p:sp>
        <p:nvSpPr>
          <p:cNvPr id="7" name="">
            <a:extLst xmlns:a="http://schemas.openxmlformats.org/drawingml/2006/main">
              <a:ext uri="{FF2B5EF4-FFF2-40B4-BE49-F238E27FC236}">
                <a16:creationId xmlns:a16="http://schemas.microsoft.com/office/drawing/2014/main" id="{0EBF1964-DF45-43C4-89CB-2468D91644B3}"/>
              </a:ext>
            </a:extLst>
          </p:cNvPr>
          <p:cNvSpPr>
            <a:spLocks xmlns:a="http://schemas.openxmlformats.org/drawingml/2006/main" noGrp="1"/>
          </p:cNvSpPr>
          <p:nvPr/>
        </p:nvSpPr>
        <p:spPr>
          <a:xfrm xmlns:a="http://schemas.openxmlformats.org/drawingml/2006/main">
            <a:off x="819150" y="37147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F27"/>
                </a:solidFill>
              </a:defRPr>
            </a:pPr>
            <a:r>
              <a:rPr sz="1650" b="1">
                <a:solidFill>
                  <a:srgbClr val="201F27"/>
                </a:solidFill>
              </a:rPr>
              <a:t>Collect feedback</a:t>
            </a:r>
          </a:p>
        </p:txBody>
      </p:sp>
      <p:sp>
        <p:nvSpPr>
          <p:cNvPr id="8" name="">
            <a:extLst xmlns:a="http://schemas.openxmlformats.org/drawingml/2006/main">
              <a:ext uri="{FF2B5EF4-FFF2-40B4-BE49-F238E27FC236}">
                <a16:creationId xmlns:a16="http://schemas.microsoft.com/office/drawing/2014/main" id="{9A310011-84BD-466E-A835-4E2D660E59E7}"/>
              </a:ext>
            </a:extLst>
          </p:cNvPr>
          <p:cNvSpPr>
            <a:spLocks xmlns:a="http://schemas.openxmlformats.org/drawingml/2006/main" noGrp="1"/>
          </p:cNvSpPr>
          <p:nvPr/>
        </p:nvSpPr>
        <p:spPr>
          <a:xfrm xmlns:a="http://schemas.openxmlformats.org/drawingml/2006/main">
            <a:off x="819150" y="411480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Run the survey and interviews</a:t>
            </a:r>
          </a:p>
        </p:txBody>
      </p:sp>
      <p:sp>
        <p:nvSpPr>
          <p:cNvPr id="9" name="">
            <a:extLst xmlns:a="http://schemas.openxmlformats.org/drawingml/2006/main">
              <a:ext uri="{FF2B5EF4-FFF2-40B4-BE49-F238E27FC236}">
                <a16:creationId xmlns:a16="http://schemas.microsoft.com/office/drawing/2014/main" id="{6DB297A2-C906-42B0-A3CB-DB003FFD656D}"/>
              </a:ext>
            </a:extLst>
          </p:cNvPr>
          <p:cNvSpPr>
            <a:spLocks xmlns:a="http://schemas.openxmlformats.org/drawingml/2006/main" noGrp="1"/>
          </p:cNvSpPr>
          <p:nvPr/>
        </p:nvSpPr>
        <p:spPr>
          <a:xfrm xmlns:a="http://schemas.openxmlformats.org/drawingml/2006/main">
            <a:off x="3286125" y="3143250"/>
            <a:ext cx="20955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7B4DFF"/>
            </a:solidFill>
            <a:prstDash val="solid"/>
          </a:ln>
        </p:spPr>
      </p:sp>
      <p:sp>
        <p:nvSpPr>
          <p:cNvPr id="10" name="">
            <a:extLst xmlns:a="http://schemas.openxmlformats.org/drawingml/2006/main">
              <a:ext uri="{FF2B5EF4-FFF2-40B4-BE49-F238E27FC236}">
                <a16:creationId xmlns:a16="http://schemas.microsoft.com/office/drawing/2014/main" id="{B0E9C77B-4C5D-4C90-8254-92155416B9AF}"/>
              </a:ext>
            </a:extLst>
          </p:cNvPr>
          <p:cNvSpPr>
            <a:spLocks xmlns:a="http://schemas.openxmlformats.org/drawingml/2006/main" noGrp="1"/>
          </p:cNvSpPr>
          <p:nvPr/>
        </p:nvSpPr>
        <p:spPr>
          <a:xfrm xmlns:a="http://schemas.openxmlformats.org/drawingml/2006/main">
            <a:off x="3495675" y="3333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02</a:t>
            </a:r>
          </a:p>
        </p:txBody>
      </p:sp>
      <p:sp>
        <p:nvSpPr>
          <p:cNvPr id="11" name="">
            <a:extLst xmlns:a="http://schemas.openxmlformats.org/drawingml/2006/main">
              <a:ext uri="{FF2B5EF4-FFF2-40B4-BE49-F238E27FC236}">
                <a16:creationId xmlns:a16="http://schemas.microsoft.com/office/drawing/2014/main" id="{B8B25DE7-3EF5-409C-919B-1D16DDE1761C}"/>
              </a:ext>
            </a:extLst>
          </p:cNvPr>
          <p:cNvSpPr>
            <a:spLocks xmlns:a="http://schemas.openxmlformats.org/drawingml/2006/main" noGrp="1"/>
          </p:cNvSpPr>
          <p:nvPr/>
        </p:nvSpPr>
        <p:spPr>
          <a:xfrm xmlns:a="http://schemas.openxmlformats.org/drawingml/2006/main">
            <a:off x="3495675" y="37147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F27"/>
                </a:solidFill>
              </a:defRPr>
            </a:pPr>
            <a:r>
              <a:rPr sz="1650" b="1">
                <a:solidFill>
                  <a:srgbClr val="201F27"/>
                </a:solidFill>
              </a:rPr>
              <a:t>Define MVP</a:t>
            </a:r>
          </a:p>
        </p:txBody>
      </p:sp>
      <p:sp>
        <p:nvSpPr>
          <p:cNvPr id="12" name="">
            <a:extLst xmlns:a="http://schemas.openxmlformats.org/drawingml/2006/main">
              <a:ext uri="{FF2B5EF4-FFF2-40B4-BE49-F238E27FC236}">
                <a16:creationId xmlns:a16="http://schemas.microsoft.com/office/drawing/2014/main" id="{831A9096-5DDA-4AE9-AC8B-0F59AC4A22CC}"/>
              </a:ext>
            </a:extLst>
          </p:cNvPr>
          <p:cNvSpPr>
            <a:spLocks xmlns:a="http://schemas.openxmlformats.org/drawingml/2006/main" noGrp="1"/>
          </p:cNvSpPr>
          <p:nvPr/>
        </p:nvSpPr>
        <p:spPr>
          <a:xfrm xmlns:a="http://schemas.openxmlformats.org/drawingml/2006/main">
            <a:off x="3495675" y="411480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Choose the essential first features</a:t>
            </a:r>
          </a:p>
        </p:txBody>
      </p:sp>
      <p:sp>
        <p:nvSpPr>
          <p:cNvPr id="13" name="">
            <a:extLst xmlns:a="http://schemas.openxmlformats.org/drawingml/2006/main">
              <a:ext uri="{FF2B5EF4-FFF2-40B4-BE49-F238E27FC236}">
                <a16:creationId xmlns:a16="http://schemas.microsoft.com/office/drawing/2014/main" id="{EDBF379F-18F9-486A-A83B-E6C345B12AB5}"/>
              </a:ext>
            </a:extLst>
          </p:cNvPr>
          <p:cNvSpPr>
            <a:spLocks xmlns:a="http://schemas.openxmlformats.org/drawingml/2006/main" noGrp="1"/>
          </p:cNvSpPr>
          <p:nvPr/>
        </p:nvSpPr>
        <p:spPr>
          <a:xfrm xmlns:a="http://schemas.openxmlformats.org/drawingml/2006/main">
            <a:off x="5962650" y="3143250"/>
            <a:ext cx="20955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7B4DFF"/>
            </a:solidFill>
            <a:prstDash val="solid"/>
          </a:ln>
        </p:spPr>
      </p:sp>
      <p:sp>
        <p:nvSpPr>
          <p:cNvPr id="14" name="">
            <a:extLst xmlns:a="http://schemas.openxmlformats.org/drawingml/2006/main">
              <a:ext uri="{FF2B5EF4-FFF2-40B4-BE49-F238E27FC236}">
                <a16:creationId xmlns:a16="http://schemas.microsoft.com/office/drawing/2014/main" id="{77735BA4-B8E6-4F47-8AA3-AE3295AC93A2}"/>
              </a:ext>
            </a:extLst>
          </p:cNvPr>
          <p:cNvSpPr>
            <a:spLocks xmlns:a="http://schemas.openxmlformats.org/drawingml/2006/main" noGrp="1"/>
          </p:cNvSpPr>
          <p:nvPr/>
        </p:nvSpPr>
        <p:spPr>
          <a:xfrm xmlns:a="http://schemas.openxmlformats.org/drawingml/2006/main">
            <a:off x="6172200" y="3333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03</a:t>
            </a:r>
          </a:p>
        </p:txBody>
      </p:sp>
      <p:sp>
        <p:nvSpPr>
          <p:cNvPr id="15" name="">
            <a:extLst xmlns:a="http://schemas.openxmlformats.org/drawingml/2006/main">
              <a:ext uri="{FF2B5EF4-FFF2-40B4-BE49-F238E27FC236}">
                <a16:creationId xmlns:a16="http://schemas.microsoft.com/office/drawing/2014/main" id="{141CF874-CB99-4A39-B148-C2A43FCCEAF8}"/>
              </a:ext>
            </a:extLst>
          </p:cNvPr>
          <p:cNvSpPr>
            <a:spLocks xmlns:a="http://schemas.openxmlformats.org/drawingml/2006/main" noGrp="1"/>
          </p:cNvSpPr>
          <p:nvPr/>
        </p:nvSpPr>
        <p:spPr>
          <a:xfrm xmlns:a="http://schemas.openxmlformats.org/drawingml/2006/main">
            <a:off x="6172200" y="37147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F27"/>
                </a:solidFill>
              </a:defRPr>
            </a:pPr>
            <a:r>
              <a:rPr sz="1650" b="1">
                <a:solidFill>
                  <a:srgbClr val="201F27"/>
                </a:solidFill>
              </a:rPr>
              <a:t>Create prototype</a:t>
            </a:r>
          </a:p>
        </p:txBody>
      </p:sp>
      <p:sp>
        <p:nvSpPr>
          <p:cNvPr id="16" name="">
            <a:extLst xmlns:a="http://schemas.openxmlformats.org/drawingml/2006/main">
              <a:ext uri="{FF2B5EF4-FFF2-40B4-BE49-F238E27FC236}">
                <a16:creationId xmlns:a16="http://schemas.microsoft.com/office/drawing/2014/main" id="{0D1BCB31-E164-4FDC-B896-DFE794B1C909}"/>
              </a:ext>
            </a:extLst>
          </p:cNvPr>
          <p:cNvSpPr>
            <a:spLocks xmlns:a="http://schemas.openxmlformats.org/drawingml/2006/main" noGrp="1"/>
          </p:cNvSpPr>
          <p:nvPr/>
        </p:nvSpPr>
        <p:spPr>
          <a:xfrm xmlns:a="http://schemas.openxmlformats.org/drawingml/2006/main">
            <a:off x="6172200" y="411480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Visualise the ritual experience</a:t>
            </a:r>
          </a:p>
        </p:txBody>
      </p:sp>
      <p:sp>
        <p:nvSpPr>
          <p:cNvPr id="17" name="">
            <a:extLst xmlns:a="http://schemas.openxmlformats.org/drawingml/2006/main">
              <a:ext uri="{FF2B5EF4-FFF2-40B4-BE49-F238E27FC236}">
                <a16:creationId xmlns:a16="http://schemas.microsoft.com/office/drawing/2014/main" id="{8C63D219-97B1-4CDB-B667-6E2FED0AAFC9}"/>
              </a:ext>
            </a:extLst>
          </p:cNvPr>
          <p:cNvSpPr>
            <a:spLocks xmlns:a="http://schemas.openxmlformats.org/drawingml/2006/main" noGrp="1"/>
          </p:cNvSpPr>
          <p:nvPr/>
        </p:nvSpPr>
        <p:spPr>
          <a:xfrm xmlns:a="http://schemas.openxmlformats.org/drawingml/2006/main">
            <a:off x="8639175" y="3143250"/>
            <a:ext cx="20955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7B4DFF"/>
            </a:solidFill>
            <a:prstDash val="solid"/>
          </a:ln>
        </p:spPr>
      </p:sp>
      <p:sp>
        <p:nvSpPr>
          <p:cNvPr id="18" name="">
            <a:extLst xmlns:a="http://schemas.openxmlformats.org/drawingml/2006/main">
              <a:ext uri="{FF2B5EF4-FFF2-40B4-BE49-F238E27FC236}">
                <a16:creationId xmlns:a16="http://schemas.microsoft.com/office/drawing/2014/main" id="{8A1E9E46-66D1-4CF1-A993-248C76FFAAC4}"/>
              </a:ext>
            </a:extLst>
          </p:cNvPr>
          <p:cNvSpPr>
            <a:spLocks xmlns:a="http://schemas.openxmlformats.org/drawingml/2006/main" noGrp="1"/>
          </p:cNvSpPr>
          <p:nvPr/>
        </p:nvSpPr>
        <p:spPr>
          <a:xfrm xmlns:a="http://schemas.openxmlformats.org/drawingml/2006/main">
            <a:off x="8848725" y="3333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7B4DFF"/>
                </a:solidFill>
              </a:defRPr>
            </a:pPr>
            <a:r>
              <a:rPr sz="1275" b="1">
                <a:solidFill>
                  <a:srgbClr val="7B4DFF"/>
                </a:solidFill>
              </a:rPr>
              <a:t>04</a:t>
            </a:r>
          </a:p>
        </p:txBody>
      </p:sp>
      <p:sp>
        <p:nvSpPr>
          <p:cNvPr id="19" name="">
            <a:extLst xmlns:a="http://schemas.openxmlformats.org/drawingml/2006/main">
              <a:ext uri="{FF2B5EF4-FFF2-40B4-BE49-F238E27FC236}">
                <a16:creationId xmlns:a16="http://schemas.microsoft.com/office/drawing/2014/main" id="{F988CC61-D5AB-4213-A5C9-9BFDDA91C4CA}"/>
              </a:ext>
            </a:extLst>
          </p:cNvPr>
          <p:cNvSpPr>
            <a:spLocks xmlns:a="http://schemas.openxmlformats.org/drawingml/2006/main" noGrp="1"/>
          </p:cNvSpPr>
          <p:nvPr/>
        </p:nvSpPr>
        <p:spPr>
          <a:xfrm xmlns:a="http://schemas.openxmlformats.org/drawingml/2006/main">
            <a:off x="8848725" y="37147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F27"/>
                </a:solidFill>
              </a:defRPr>
            </a:pPr>
            <a:r>
              <a:rPr sz="1650" b="1">
                <a:solidFill>
                  <a:srgbClr val="201F27"/>
                </a:solidFill>
              </a:rPr>
              <a:t>Test</a:t>
            </a:r>
          </a:p>
        </p:txBody>
      </p:sp>
      <p:sp>
        <p:nvSpPr>
          <p:cNvPr id="20" name="">
            <a:extLst xmlns:a="http://schemas.openxmlformats.org/drawingml/2006/main">
              <a:ext uri="{FF2B5EF4-FFF2-40B4-BE49-F238E27FC236}">
                <a16:creationId xmlns:a16="http://schemas.microsoft.com/office/drawing/2014/main" id="{51DFA568-064D-41CF-ADEC-24567B695B11}"/>
              </a:ext>
            </a:extLst>
          </p:cNvPr>
          <p:cNvSpPr>
            <a:spLocks xmlns:a="http://schemas.openxmlformats.org/drawingml/2006/main" noGrp="1"/>
          </p:cNvSpPr>
          <p:nvPr/>
        </p:nvSpPr>
        <p:spPr>
          <a:xfrm xmlns:a="http://schemas.openxmlformats.org/drawingml/2006/main">
            <a:off x="8848725" y="411480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86575"/>
                </a:solidFill>
              </a:defRPr>
            </a:pPr>
            <a:r>
              <a:rPr sz="1200" b="0">
                <a:solidFill>
                  <a:srgbClr val="686575"/>
                </a:solidFill>
              </a:rPr>
              <a:t>See if people would use it after work</a:t>
            </a:r>
          </a:p>
        </p:txBody>
      </p:sp>
      <p:sp>
        <p:nvSpPr>
          <p:cNvPr id="21" name="">
            <a:extLst xmlns:a="http://schemas.openxmlformats.org/drawingml/2006/main">
              <a:ext uri="{FF2B5EF4-FFF2-40B4-BE49-F238E27FC236}">
                <a16:creationId xmlns:a16="http://schemas.microsoft.com/office/drawing/2014/main" id="{7717311C-4CA4-4579-8C9F-8000D637535E}"/>
              </a:ext>
            </a:extLst>
          </p:cNvPr>
          <p:cNvSpPr>
            <a:spLocks xmlns:a="http://schemas.openxmlformats.org/drawingml/2006/main" noGrp="1"/>
          </p:cNvSpPr>
          <p:nvPr/>
        </p:nvSpPr>
        <p:spPr>
          <a:xfrm xmlns:a="http://schemas.openxmlformats.org/drawingml/2006/main">
            <a:off x="609600" y="5476875"/>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F27"/>
                </a:solidFill>
              </a:defRPr>
            </a:pPr>
            <a:r>
              <a:rPr sz="1800" b="1">
                <a:solidFill>
                  <a:srgbClr val="201F27"/>
                </a:solidFill>
              </a:rPr>
              <a:t>Our aim is simple: make recovery easier when people have the least energy to decide.</a:t>
            </a:r>
          </a:p>
        </p:txBody>
      </p:sp>
    </p:spTree>
    <p:extLst>
      <p:ext uri="{BB962C8B-B14F-4D97-AF65-F5344CB8AC3E}">
        <p14:creationId xmlns:p14="http://schemas.microsoft.com/office/powerpoint/2010/main" val="460617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2026-08-18T15:50:56.6580000Z</dcterms:created>
  <dcterms:modified xsi:type="dcterms:W3CDTF">2026-08-18T15:50:56.6580000Z</dcterms:modified>
</coreProperties>
</file>